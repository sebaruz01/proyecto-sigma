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6858000" cy="9144000"/>
  <p:embeddedFontLst>
    <p:embeddedFont>
      <p:font typeface="Lato"/>
      <p:regular r:id="rId18"/>
      <p:bold r:id="rId19"/>
      <p:italic r:id="rId20"/>
      <p:boldItalic r:id="rId21"/>
    </p:embeddedFont>
    <p:embeddedFont>
      <p:font typeface="Lato Light"/>
      <p:regular r:id="rId22"/>
      <p:bold r:id="rId23"/>
      <p:italic r:id="rId24"/>
      <p:boldItalic r:id="rId25"/>
    </p:embeddedFont>
    <p:embeddedFont>
      <p:font typeface="Urbanist SemiBold"/>
      <p:regular r:id="rId26"/>
      <p:bold r:id="rId27"/>
      <p:italic r:id="rId28"/>
      <p:boldItalic r:id="rId29"/>
    </p:embeddedFont>
    <p:embeddedFont>
      <p:font typeface="Urbanis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4" roundtripDataSignature="AMtx7mgjTryX3sBOczE2leMZ80qqYtRr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903D44-021F-496A-9285-8B9B372FAE12}">
  <a:tblStyle styleId="{99903D44-021F-496A-9285-8B9B372FAE1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22" Type="http://schemas.openxmlformats.org/officeDocument/2006/relationships/font" Target="fonts/LatoLight-regular.fntdata"/><Relationship Id="rId21" Type="http://schemas.openxmlformats.org/officeDocument/2006/relationships/font" Target="fonts/Lato-boldItalic.fntdata"/><Relationship Id="rId24" Type="http://schemas.openxmlformats.org/officeDocument/2006/relationships/font" Target="fonts/LatoLight-italic.fntdata"/><Relationship Id="rId23" Type="http://schemas.openxmlformats.org/officeDocument/2006/relationships/font" Target="fonts/Lato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UrbanistSemiBold-regular.fntdata"/><Relationship Id="rId25" Type="http://schemas.openxmlformats.org/officeDocument/2006/relationships/font" Target="fonts/LatoLight-boldItalic.fntdata"/><Relationship Id="rId28" Type="http://schemas.openxmlformats.org/officeDocument/2006/relationships/font" Target="fonts/UrbanistSemiBold-italic.fntdata"/><Relationship Id="rId27" Type="http://schemas.openxmlformats.org/officeDocument/2006/relationships/font" Target="fonts/UrbanistSemiBol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UrbanistSemiBold-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rbanist-bold.fntdata"/><Relationship Id="rId30" Type="http://schemas.openxmlformats.org/officeDocument/2006/relationships/font" Target="fonts/Urbanist-regular.fntdata"/><Relationship Id="rId11" Type="http://schemas.openxmlformats.org/officeDocument/2006/relationships/slide" Target="slides/slide5.xml"/><Relationship Id="rId33" Type="http://schemas.openxmlformats.org/officeDocument/2006/relationships/font" Target="fonts/Urbanist-boldItalic.fntdata"/><Relationship Id="rId10" Type="http://schemas.openxmlformats.org/officeDocument/2006/relationships/slide" Target="slides/slide4.xml"/><Relationship Id="rId32" Type="http://schemas.openxmlformats.org/officeDocument/2006/relationships/font" Target="fonts/Urbanist-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Lato-bold.fntdata"/><Relationship Id="rId18" Type="http://schemas.openxmlformats.org/officeDocument/2006/relationships/font" Target="fonts/La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7.png"/><Relationship Id="rId10" Type="http://schemas.openxmlformats.org/officeDocument/2006/relationships/image" Target="../media/image10.png"/><Relationship Id="rId9"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0.png"/><Relationship Id="rId7" Type="http://schemas.openxmlformats.org/officeDocument/2006/relationships/image" Target="../media/image5.png"/><Relationship Id="rId8"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8.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5.png"/><Relationship Id="rId6" Type="http://schemas.openxmlformats.org/officeDocument/2006/relationships/image" Target="../media/image8.png"/><Relationship Id="rId7" Type="http://schemas.openxmlformats.org/officeDocument/2006/relationships/image" Target="../media/image23.png"/><Relationship Id="rId8"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7.png"/><Relationship Id="rId10" Type="http://schemas.openxmlformats.org/officeDocument/2006/relationships/image" Target="../media/image29.png"/><Relationship Id="rId9" Type="http://schemas.openxmlformats.org/officeDocument/2006/relationships/image" Target="../media/image31.png"/><Relationship Id="rId5" Type="http://schemas.openxmlformats.org/officeDocument/2006/relationships/image" Target="../media/image25.png"/><Relationship Id="rId6" Type="http://schemas.openxmlformats.org/officeDocument/2006/relationships/image" Target="../media/image22.png"/><Relationship Id="rId7" Type="http://schemas.openxmlformats.org/officeDocument/2006/relationships/image" Target="../media/image16.png"/><Relationship Id="rId8"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
          <p:cNvPicPr preferRelativeResize="0"/>
          <p:nvPr/>
        </p:nvPicPr>
        <p:blipFill rotWithShape="1">
          <a:blip r:embed="rId4">
            <a:alphaModFix/>
          </a:blip>
          <a:srcRect b="0" l="0" r="0" t="0"/>
          <a:stretch/>
        </p:blipFill>
        <p:spPr>
          <a:xfrm>
            <a:off x="571500" y="3854648"/>
            <a:ext cx="11049000" cy="1209675"/>
          </a:xfrm>
          <a:prstGeom prst="rect">
            <a:avLst/>
          </a:prstGeom>
          <a:noFill/>
          <a:ln>
            <a:noFill/>
          </a:ln>
        </p:spPr>
      </p:pic>
      <p:sp>
        <p:nvSpPr>
          <p:cNvPr id="86" name="Google Shape;86;p1"/>
          <p:cNvSpPr txBox="1"/>
          <p:nvPr/>
        </p:nvSpPr>
        <p:spPr>
          <a:xfrm>
            <a:off x="295275" y="1793527"/>
            <a:ext cx="11601450" cy="838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6000"/>
              <a:buFont typeface="Arial"/>
              <a:buNone/>
            </a:pPr>
            <a:r>
              <a:rPr b="1" i="0" lang="en-US" sz="6000" u="none" cap="none" strike="noStrike">
                <a:solidFill>
                  <a:srgbClr val="F8FAFC"/>
                </a:solidFill>
                <a:latin typeface="Urbanist"/>
                <a:ea typeface="Urbanist"/>
                <a:cs typeface="Urbanist"/>
                <a:sym typeface="Urbanist"/>
              </a:rPr>
              <a:t>Proyecto </a:t>
            </a:r>
            <a:r>
              <a:rPr b="1" i="0" lang="en-US" sz="6000" u="none" cap="none" strike="noStrike">
                <a:solidFill>
                  <a:srgbClr val="00F0FF"/>
                </a:solidFill>
                <a:latin typeface="Urbanist"/>
                <a:ea typeface="Urbanist"/>
                <a:cs typeface="Urbanist"/>
                <a:sym typeface="Urbanist"/>
              </a:rPr>
              <a:t>SIGMA</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3076575" y="2822227"/>
            <a:ext cx="603885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b="0" i="0" lang="en-US" sz="1800" u="none" cap="none" strike="noStrike">
                <a:solidFill>
                  <a:srgbClr val="CBD5E1"/>
                </a:solidFill>
                <a:latin typeface="Lato Light"/>
                <a:ea typeface="Lato Light"/>
                <a:cs typeface="Lato Light"/>
                <a:sym typeface="Lato Light"/>
              </a:rPr>
              <a:t>Sistema Integrado de Gestión para Mecánica y Administración</a:t>
            </a:r>
            <a:endParaRPr b="0" i="0" sz="1400" u="none" cap="none" strike="noStrike">
              <a:solidFill>
                <a:srgbClr val="000000"/>
              </a:solidFill>
              <a:latin typeface="Arial"/>
              <a:ea typeface="Arial"/>
              <a:cs typeface="Arial"/>
              <a:sym typeface="Arial"/>
            </a:endParaRPr>
          </a:p>
        </p:txBody>
      </p:sp>
      <p:sp>
        <p:nvSpPr>
          <p:cNvPr id="88" name="Google Shape;88;p1"/>
          <p:cNvSpPr txBox="1"/>
          <p:nvPr/>
        </p:nvSpPr>
        <p:spPr>
          <a:xfrm>
            <a:off x="3014662" y="4149923"/>
            <a:ext cx="135255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F0FF"/>
                </a:solidFill>
                <a:latin typeface="Lato"/>
                <a:ea typeface="Lato"/>
                <a:cs typeface="Lato"/>
                <a:sym typeface="Lato"/>
              </a:rPr>
              <a:t>Integrantes</a:t>
            </a:r>
            <a:r>
              <a:rPr b="0" i="0" lang="en-US" sz="1200" u="none" cap="none" strike="noStrike">
                <a:solidFill>
                  <a:srgbClr val="000000"/>
                </a:solidFill>
                <a:latin typeface="Lato"/>
                <a:ea typeface="Lato"/>
                <a:cs typeface="Lato"/>
                <a:sym typeface="Lato"/>
              </a:rPr>
              <a:t> </a:t>
            </a:r>
            <a:r>
              <a:rPr b="0" i="0" lang="en-US" sz="1200" u="none" cap="none" strike="noStrike">
                <a:solidFill>
                  <a:srgbClr val="F8FAFC"/>
                </a:solidFill>
                <a:latin typeface="Lato"/>
                <a:ea typeface="Lato"/>
                <a:cs typeface="Lato"/>
                <a:sym typeface="Lato"/>
              </a:rPr>
              <a:t>Sebastián Ruz</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F8FAFC"/>
                </a:solidFill>
                <a:latin typeface="Lato"/>
                <a:ea typeface="Lato"/>
                <a:cs typeface="Lato"/>
                <a:sym typeface="Lato"/>
              </a:rPr>
              <a:t> Dixon Vargas</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F8FAFC"/>
                </a:solidFill>
                <a:latin typeface="Lato"/>
                <a:ea typeface="Lato"/>
                <a:cs typeface="Lato"/>
                <a:sym typeface="Lato"/>
              </a:rPr>
              <a:t> Isaac Arriagada</a:t>
            </a:r>
            <a:endParaRPr b="0" i="0" sz="1400" u="none" cap="none" strike="noStrike">
              <a:solidFill>
                <a:srgbClr val="000000"/>
              </a:solidFill>
              <a:latin typeface="Arial"/>
              <a:ea typeface="Arial"/>
              <a:cs typeface="Arial"/>
              <a:sym typeface="Arial"/>
            </a:endParaRPr>
          </a:p>
        </p:txBody>
      </p:sp>
      <p:sp>
        <p:nvSpPr>
          <p:cNvPr id="89" name="Google Shape;89;p1"/>
          <p:cNvSpPr txBox="1"/>
          <p:nvPr/>
        </p:nvSpPr>
        <p:spPr>
          <a:xfrm>
            <a:off x="4938712" y="4149923"/>
            <a:ext cx="1800300" cy="18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F0FF"/>
                </a:solidFill>
                <a:latin typeface="Lato"/>
                <a:ea typeface="Lato"/>
                <a:cs typeface="Lato"/>
                <a:sym typeface="Lato"/>
              </a:rPr>
              <a:t>Docente</a:t>
            </a:r>
            <a:r>
              <a:rPr b="0" i="0" lang="en-US" sz="1200" u="none" cap="none" strike="noStrike">
                <a:solidFill>
                  <a:srgbClr val="000000"/>
                </a:solidFill>
                <a:latin typeface="Lato"/>
                <a:ea typeface="Lato"/>
                <a:cs typeface="Lato"/>
                <a:sym typeface="Lato"/>
              </a:rPr>
              <a:t> </a:t>
            </a:r>
            <a:r>
              <a:rPr b="0" i="0" lang="en-US" sz="1200" u="none" cap="none" strike="noStrike">
                <a:solidFill>
                  <a:srgbClr val="F8FAFC"/>
                </a:solidFill>
                <a:latin typeface="Lato"/>
                <a:ea typeface="Lato"/>
                <a:cs typeface="Lato"/>
                <a:sym typeface="Lato"/>
              </a:rPr>
              <a:t>Reginaldo Salinas </a:t>
            </a:r>
            <a:endParaRPr b="0" i="0" sz="1400" u="none" cap="none" strike="noStrike">
              <a:solidFill>
                <a:srgbClr val="000000"/>
              </a:solidFill>
              <a:latin typeface="Arial"/>
              <a:ea typeface="Arial"/>
              <a:cs typeface="Arial"/>
              <a:sym typeface="Arial"/>
            </a:endParaRPr>
          </a:p>
        </p:txBody>
      </p:sp>
      <p:sp>
        <p:nvSpPr>
          <p:cNvPr id="90" name="Google Shape;90;p1"/>
          <p:cNvSpPr txBox="1"/>
          <p:nvPr/>
        </p:nvSpPr>
        <p:spPr>
          <a:xfrm>
            <a:off x="7310437" y="4149923"/>
            <a:ext cx="186690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F0FF"/>
                </a:solidFill>
                <a:latin typeface="Lato"/>
                <a:ea typeface="Lato"/>
                <a:cs typeface="Lato"/>
                <a:sym typeface="Lato"/>
              </a:rPr>
              <a:t>Carrera</a:t>
            </a:r>
            <a:r>
              <a:rPr b="0" i="0" lang="en-US" sz="1200" u="none" cap="none" strike="noStrike">
                <a:solidFill>
                  <a:srgbClr val="000000"/>
                </a:solidFill>
                <a:latin typeface="Lato"/>
                <a:ea typeface="Lato"/>
                <a:cs typeface="Lato"/>
                <a:sym typeface="Lato"/>
              </a:rPr>
              <a:t> </a:t>
            </a:r>
            <a:r>
              <a:rPr b="0" i="0" lang="en-US" sz="1200" u="none" cap="none" strike="noStrike">
                <a:solidFill>
                  <a:srgbClr val="F8FAFC"/>
                </a:solidFill>
                <a:latin typeface="Lato"/>
                <a:ea typeface="Lato"/>
                <a:cs typeface="Lato"/>
                <a:sym typeface="Lato"/>
              </a:rPr>
              <a:t>Ingeniería en Informática</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F8FAFC"/>
                </a:solidFill>
                <a:latin typeface="Lato"/>
                <a:ea typeface="Lato"/>
                <a:cs typeface="Lato"/>
                <a:sym typeface="Lato"/>
              </a:rPr>
              <a:t> Sede Maipú</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94" name="Shape 94"/>
        <p:cNvGrpSpPr/>
        <p:nvPr/>
      </p:nvGrpSpPr>
      <p:grpSpPr>
        <a:xfrm>
          <a:off x="0" y="0"/>
          <a:ext cx="0" cy="0"/>
          <a:chOff x="0" y="0"/>
          <a:chExt cx="0" cy="0"/>
        </a:xfrm>
      </p:grpSpPr>
      <p:pic>
        <p:nvPicPr>
          <p:cNvPr descr="image.png" id="95" name="Google Shape;95;p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6" name="Google Shape;96;p2"/>
          <p:cNvPicPr preferRelativeResize="0"/>
          <p:nvPr/>
        </p:nvPicPr>
        <p:blipFill rotWithShape="1">
          <a:blip r:embed="rId4">
            <a:alphaModFix/>
          </a:blip>
          <a:srcRect b="0" l="0" r="0" t="0"/>
          <a:stretch/>
        </p:blipFill>
        <p:spPr>
          <a:xfrm>
            <a:off x="7391400" y="1952625"/>
            <a:ext cx="4229100" cy="4000500"/>
          </a:xfrm>
          <a:prstGeom prst="rect">
            <a:avLst/>
          </a:prstGeom>
          <a:noFill/>
          <a:ln>
            <a:noFill/>
          </a:ln>
        </p:spPr>
      </p:pic>
      <p:sp>
        <p:nvSpPr>
          <p:cNvPr id="97" name="Google Shape;97;p2"/>
          <p:cNvSpPr txBox="1"/>
          <p:nvPr/>
        </p:nvSpPr>
        <p:spPr>
          <a:xfrm>
            <a:off x="571500" y="2419350"/>
            <a:ext cx="6660832" cy="3619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8FAFC"/>
                </a:solidFill>
                <a:latin typeface="Urbanist SemiBold"/>
                <a:ea typeface="Urbanist SemiBold"/>
                <a:cs typeface="Urbanist SemiBold"/>
                <a:sym typeface="Urbanist SemiBold"/>
              </a:rPr>
              <a:t>Gestión Manual e Ineficiente</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571500" y="2971800"/>
            <a:ext cx="63436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94A3B8"/>
                </a:solidFill>
                <a:latin typeface="Lato"/>
                <a:ea typeface="Lato"/>
                <a:cs typeface="Lato"/>
                <a:sym typeface="Lato"/>
              </a:rPr>
              <a:t>Los talleres mecánicos de menor tamaño operan hoy de forma manual o con herramientas genéricas (cuadernos, WhatsApp, planillas básicas).</a:t>
            </a:r>
            <a:endParaRPr b="0" i="0" sz="1400" u="none" cap="none" strike="noStrike">
              <a:solidFill>
                <a:srgbClr val="000000"/>
              </a:solidFill>
              <a:latin typeface="Arial"/>
              <a:ea typeface="Arial"/>
              <a:cs typeface="Arial"/>
              <a:sym typeface="Arial"/>
            </a:endParaRPr>
          </a:p>
        </p:txBody>
      </p:sp>
      <p:sp>
        <p:nvSpPr>
          <p:cNvPr id="99" name="Google Shape;99;p2"/>
          <p:cNvSpPr txBox="1"/>
          <p:nvPr/>
        </p:nvSpPr>
        <p:spPr>
          <a:xfrm>
            <a:off x="571500" y="3771900"/>
            <a:ext cx="63436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94A3B8"/>
                </a:solidFill>
                <a:latin typeface="Lato"/>
                <a:ea typeface="Lato"/>
                <a:cs typeface="Lato"/>
                <a:sym typeface="Lato"/>
              </a:rPr>
              <a:t>Esto genera graves problemas de trazabilidad en las reparaciones, tiempos de respuesta poco claros para el cliente final y una completa falta de control sobre el inventario de repuestos.</a:t>
            </a:r>
            <a:endParaRPr b="0" i="0" sz="1400" u="none" cap="none" strike="noStrike">
              <a:solidFill>
                <a:srgbClr val="000000"/>
              </a:solidFill>
              <a:latin typeface="Arial"/>
              <a:ea typeface="Arial"/>
              <a:cs typeface="Arial"/>
              <a:sym typeface="Arial"/>
            </a:endParaRPr>
          </a:p>
        </p:txBody>
      </p:sp>
      <p:sp>
        <p:nvSpPr>
          <p:cNvPr id="100" name="Google Shape;100;p2"/>
          <p:cNvSpPr txBox="1"/>
          <p:nvPr/>
        </p:nvSpPr>
        <p:spPr>
          <a:xfrm>
            <a:off x="571500" y="4876800"/>
            <a:ext cx="63438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00F0FF"/>
                </a:solidFill>
                <a:latin typeface="Urbanist"/>
                <a:ea typeface="Urbanist"/>
                <a:cs typeface="Urbanist"/>
                <a:sym typeface="Urbanist"/>
              </a:rPr>
              <a:t>Nuestra solución (SIGMA) digitaliza y profesionaliza </a:t>
            </a:r>
            <a:r>
              <a:rPr b="1" lang="en-US" sz="1500">
                <a:solidFill>
                  <a:srgbClr val="00F0FF"/>
                </a:solidFill>
                <a:latin typeface="Urbanist"/>
                <a:ea typeface="Urbanist"/>
                <a:cs typeface="Urbanist"/>
                <a:sym typeface="Urbanist"/>
              </a:rPr>
              <a:t>esta</a:t>
            </a:r>
            <a:r>
              <a:rPr b="1" i="0" lang="en-US" sz="1500" u="none" cap="none" strike="noStrike">
                <a:solidFill>
                  <a:srgbClr val="00F0FF"/>
                </a:solidFill>
                <a:latin typeface="Urbanist"/>
                <a:ea typeface="Urbanist"/>
                <a:cs typeface="Urbanist"/>
                <a:sym typeface="Urbanist"/>
              </a:rPr>
              <a:t> operativa mediante un modelo Software as a Service (SaaS).</a:t>
            </a:r>
            <a:endParaRPr b="0" i="0" sz="1400" u="none" cap="none" strike="noStrike">
              <a:solidFill>
                <a:srgbClr val="000000"/>
              </a:solidFill>
              <a:latin typeface="Arial"/>
              <a:ea typeface="Arial"/>
              <a:cs typeface="Arial"/>
              <a:sym typeface="Arial"/>
            </a:endParaRPr>
          </a:p>
        </p:txBody>
      </p:sp>
      <p:pic>
        <p:nvPicPr>
          <p:cNvPr descr="image.png" id="101" name="Google Shape;101;p2"/>
          <p:cNvPicPr preferRelativeResize="0"/>
          <p:nvPr/>
        </p:nvPicPr>
        <p:blipFill rotWithShape="1">
          <a:blip r:embed="rId5">
            <a:alphaModFix/>
          </a:blip>
          <a:srcRect b="0" l="0" r="0" t="0"/>
          <a:stretch/>
        </p:blipFill>
        <p:spPr>
          <a:xfrm>
            <a:off x="7400925" y="1962150"/>
            <a:ext cx="4210050" cy="3981450"/>
          </a:xfrm>
          <a:prstGeom prst="rect">
            <a:avLst/>
          </a:prstGeom>
          <a:noFill/>
          <a:ln>
            <a:noFill/>
          </a:ln>
        </p:spPr>
      </p:pic>
      <p:sp>
        <p:nvSpPr>
          <p:cNvPr id="102" name="Google Shape;102;p2"/>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8FAFC"/>
                </a:solidFill>
                <a:latin typeface="Urbanist"/>
                <a:ea typeface="Urbanist"/>
                <a:cs typeface="Urbanist"/>
                <a:sym typeface="Urbanist"/>
              </a:rPr>
              <a:t>El </a:t>
            </a:r>
            <a:r>
              <a:rPr b="1" i="0" lang="en-US" sz="3300" u="none" cap="none" strike="noStrike">
                <a:solidFill>
                  <a:srgbClr val="00F0FF"/>
                </a:solidFill>
                <a:latin typeface="Urbanist"/>
                <a:ea typeface="Urbanist"/>
                <a:cs typeface="Urbanist"/>
                <a:sym typeface="Urbanist"/>
              </a:rPr>
              <a:t>Problema</a:t>
            </a:r>
            <a:r>
              <a:rPr b="1" i="0" lang="en-US" sz="3300" u="none" cap="none" strike="noStrike">
                <a:solidFill>
                  <a:srgbClr val="F8FAFC"/>
                </a:solidFill>
                <a:latin typeface="Urbanist"/>
                <a:ea typeface="Urbanist"/>
                <a:cs typeface="Urbanist"/>
                <a:sym typeface="Urbanist"/>
              </a:rPr>
              <a:t> en los Talleres</a:t>
            </a:r>
            <a:endParaRPr b="0" i="0" sz="1400" u="none" cap="none" strike="noStrike">
              <a:solidFill>
                <a:srgbClr val="000000"/>
              </a:solidFill>
              <a:latin typeface="Arial"/>
              <a:ea typeface="Arial"/>
              <a:cs typeface="Arial"/>
              <a:sym typeface="Arial"/>
            </a:endParaRPr>
          </a:p>
        </p:txBody>
      </p:sp>
      <p:sp>
        <p:nvSpPr>
          <p:cNvPr id="103" name="Google Shape;103;p2"/>
          <p:cNvSpPr/>
          <p:nvPr/>
        </p:nvSpPr>
        <p:spPr>
          <a:xfrm>
            <a:off x="571500" y="1219200"/>
            <a:ext cx="11049000"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07" name="Shape 107"/>
        <p:cNvGrpSpPr/>
        <p:nvPr/>
      </p:nvGrpSpPr>
      <p:grpSpPr>
        <a:xfrm>
          <a:off x="0" y="0"/>
          <a:ext cx="0" cy="0"/>
          <a:chOff x="0" y="0"/>
          <a:chExt cx="0" cy="0"/>
        </a:xfrm>
      </p:grpSpPr>
      <p:pic>
        <p:nvPicPr>
          <p:cNvPr descr="image.png" id="108" name="Google Shape;108;p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9" name="Google Shape;109;p3"/>
          <p:cNvPicPr preferRelativeResize="0"/>
          <p:nvPr/>
        </p:nvPicPr>
        <p:blipFill rotWithShape="1">
          <a:blip r:embed="rId4">
            <a:alphaModFix/>
          </a:blip>
          <a:srcRect b="0" l="0" r="0" t="0"/>
          <a:stretch/>
        </p:blipFill>
        <p:spPr>
          <a:xfrm>
            <a:off x="571500" y="2419647"/>
            <a:ext cx="3492549" cy="3066454"/>
          </a:xfrm>
          <a:prstGeom prst="rect">
            <a:avLst/>
          </a:prstGeom>
          <a:noFill/>
          <a:ln>
            <a:noFill/>
          </a:ln>
        </p:spPr>
      </p:pic>
      <p:pic>
        <p:nvPicPr>
          <p:cNvPr descr="image.png" id="110" name="Google Shape;110;p3"/>
          <p:cNvPicPr preferRelativeResize="0"/>
          <p:nvPr/>
        </p:nvPicPr>
        <p:blipFill rotWithShape="1">
          <a:blip r:embed="rId5">
            <a:alphaModFix/>
          </a:blip>
          <a:srcRect b="0" l="0" r="0" t="0"/>
          <a:stretch/>
        </p:blipFill>
        <p:spPr>
          <a:xfrm>
            <a:off x="4349799" y="2419647"/>
            <a:ext cx="3492549" cy="3066454"/>
          </a:xfrm>
          <a:prstGeom prst="rect">
            <a:avLst/>
          </a:prstGeom>
          <a:noFill/>
          <a:ln>
            <a:noFill/>
          </a:ln>
        </p:spPr>
      </p:pic>
      <p:pic>
        <p:nvPicPr>
          <p:cNvPr descr="image.png" id="111" name="Google Shape;111;p3"/>
          <p:cNvPicPr preferRelativeResize="0"/>
          <p:nvPr/>
        </p:nvPicPr>
        <p:blipFill rotWithShape="1">
          <a:blip r:embed="rId6">
            <a:alphaModFix/>
          </a:blip>
          <a:srcRect b="0" l="0" r="0" t="0"/>
          <a:stretch/>
        </p:blipFill>
        <p:spPr>
          <a:xfrm>
            <a:off x="8128099" y="2419647"/>
            <a:ext cx="3492549" cy="3066454"/>
          </a:xfrm>
          <a:prstGeom prst="rect">
            <a:avLst/>
          </a:prstGeom>
          <a:noFill/>
          <a:ln>
            <a:noFill/>
          </a:ln>
        </p:spPr>
      </p:pic>
      <p:pic>
        <p:nvPicPr>
          <p:cNvPr descr="image.png" id="112" name="Google Shape;112;p3"/>
          <p:cNvPicPr preferRelativeResize="0"/>
          <p:nvPr/>
        </p:nvPicPr>
        <p:blipFill rotWithShape="1">
          <a:blip r:embed="rId7">
            <a:alphaModFix/>
          </a:blip>
          <a:srcRect b="0" l="0" r="0" t="0"/>
          <a:stretch/>
        </p:blipFill>
        <p:spPr>
          <a:xfrm>
            <a:off x="914400" y="2762547"/>
            <a:ext cx="2806749" cy="476250"/>
          </a:xfrm>
          <a:prstGeom prst="rect">
            <a:avLst/>
          </a:prstGeom>
          <a:noFill/>
          <a:ln>
            <a:noFill/>
          </a:ln>
        </p:spPr>
      </p:pic>
      <p:sp>
        <p:nvSpPr>
          <p:cNvPr id="113" name="Google Shape;113;p3"/>
          <p:cNvSpPr txBox="1"/>
          <p:nvPr/>
        </p:nvSpPr>
        <p:spPr>
          <a:xfrm>
            <a:off x="914400" y="3429297"/>
            <a:ext cx="2947087"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Urbanist SemiBold"/>
                <a:ea typeface="Urbanist SemiBold"/>
                <a:cs typeface="Urbanist SemiBold"/>
                <a:sym typeface="Urbanist SemiBold"/>
              </a:rPr>
              <a:t>Plataforma Web SaaS</a:t>
            </a:r>
            <a:endParaRPr b="0" i="0" sz="1400" u="none" cap="none" strike="noStrike">
              <a:solidFill>
                <a:srgbClr val="000000"/>
              </a:solidFill>
              <a:latin typeface="Arial"/>
              <a:ea typeface="Arial"/>
              <a:cs typeface="Arial"/>
              <a:sym typeface="Arial"/>
            </a:endParaRPr>
          </a:p>
        </p:txBody>
      </p:sp>
      <p:sp>
        <p:nvSpPr>
          <p:cNvPr id="114" name="Google Shape;114;p3"/>
          <p:cNvSpPr txBox="1"/>
          <p:nvPr/>
        </p:nvSpPr>
        <p:spPr>
          <a:xfrm>
            <a:off x="914400" y="3848397"/>
            <a:ext cx="2806749" cy="1294804"/>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en-US" sz="1275" u="none" cap="none" strike="noStrike">
                <a:solidFill>
                  <a:srgbClr val="94A3B8"/>
                </a:solidFill>
                <a:latin typeface="Lato"/>
                <a:ea typeface="Lato"/>
                <a:cs typeface="Lato"/>
                <a:sym typeface="Lato"/>
              </a:rPr>
              <a:t>Desarrollada con React (Frontend) y Django REST Framework (Backend). Incluye módulos habitables de agendamiento online, órdenes de trabajo y gestión de técnicos.</a:t>
            </a:r>
            <a:endParaRPr b="0" i="0" sz="1400" u="none" cap="none" strike="noStrike">
              <a:solidFill>
                <a:srgbClr val="000000"/>
              </a:solidFill>
              <a:latin typeface="Arial"/>
              <a:ea typeface="Arial"/>
              <a:cs typeface="Arial"/>
              <a:sym typeface="Arial"/>
            </a:endParaRPr>
          </a:p>
        </p:txBody>
      </p:sp>
      <p:pic>
        <p:nvPicPr>
          <p:cNvPr descr="image.png" id="115" name="Google Shape;115;p3"/>
          <p:cNvPicPr preferRelativeResize="0"/>
          <p:nvPr/>
        </p:nvPicPr>
        <p:blipFill rotWithShape="1">
          <a:blip r:embed="rId7">
            <a:alphaModFix/>
          </a:blip>
          <a:srcRect b="0" l="0" r="0" t="0"/>
          <a:stretch/>
        </p:blipFill>
        <p:spPr>
          <a:xfrm>
            <a:off x="4692699" y="2762547"/>
            <a:ext cx="2806749" cy="476250"/>
          </a:xfrm>
          <a:prstGeom prst="rect">
            <a:avLst/>
          </a:prstGeom>
          <a:noFill/>
          <a:ln>
            <a:noFill/>
          </a:ln>
        </p:spPr>
      </p:pic>
      <p:sp>
        <p:nvSpPr>
          <p:cNvPr id="116" name="Google Shape;116;p3"/>
          <p:cNvSpPr txBox="1"/>
          <p:nvPr/>
        </p:nvSpPr>
        <p:spPr>
          <a:xfrm>
            <a:off x="4692699" y="3429297"/>
            <a:ext cx="2947087"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Urbanist SemiBold"/>
                <a:ea typeface="Urbanist SemiBold"/>
                <a:cs typeface="Urbanist SemiBold"/>
                <a:sym typeface="Urbanist SemiBold"/>
              </a:rPr>
              <a:t>Arquitectura Multi-tenant</a:t>
            </a:r>
            <a:endParaRPr b="0" i="0" sz="1400" u="none" cap="none" strike="noStrike">
              <a:solidFill>
                <a:srgbClr val="000000"/>
              </a:solidFill>
              <a:latin typeface="Arial"/>
              <a:ea typeface="Arial"/>
              <a:cs typeface="Arial"/>
              <a:sym typeface="Arial"/>
            </a:endParaRPr>
          </a:p>
        </p:txBody>
      </p:sp>
      <p:sp>
        <p:nvSpPr>
          <p:cNvPr id="117" name="Google Shape;117;p3"/>
          <p:cNvSpPr txBox="1"/>
          <p:nvPr/>
        </p:nvSpPr>
        <p:spPr>
          <a:xfrm>
            <a:off x="4692699" y="3848397"/>
            <a:ext cx="2806749" cy="1035843"/>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en-US" sz="1275" u="none" cap="none" strike="noStrike">
                <a:solidFill>
                  <a:srgbClr val="94A3B8"/>
                </a:solidFill>
                <a:latin typeface="Lato"/>
                <a:ea typeface="Lato"/>
                <a:cs typeface="Lato"/>
                <a:sym typeface="Lato"/>
              </a:rPr>
              <a:t>Base de datos MySQL diseñada para aislar de manera segura la información y operaciones de cada taller cliente que contrate los servicios.</a:t>
            </a:r>
            <a:endParaRPr b="0" i="0" sz="1400" u="none" cap="none" strike="noStrike">
              <a:solidFill>
                <a:srgbClr val="000000"/>
              </a:solidFill>
              <a:latin typeface="Arial"/>
              <a:ea typeface="Arial"/>
              <a:cs typeface="Arial"/>
              <a:sym typeface="Arial"/>
            </a:endParaRPr>
          </a:p>
        </p:txBody>
      </p:sp>
      <p:pic>
        <p:nvPicPr>
          <p:cNvPr descr="image.png" id="118" name="Google Shape;118;p3"/>
          <p:cNvPicPr preferRelativeResize="0"/>
          <p:nvPr/>
        </p:nvPicPr>
        <p:blipFill rotWithShape="1">
          <a:blip r:embed="rId7">
            <a:alphaModFix/>
          </a:blip>
          <a:srcRect b="0" l="0" r="0" t="0"/>
          <a:stretch/>
        </p:blipFill>
        <p:spPr>
          <a:xfrm>
            <a:off x="8470999" y="2762547"/>
            <a:ext cx="2806749" cy="476250"/>
          </a:xfrm>
          <a:prstGeom prst="rect">
            <a:avLst/>
          </a:prstGeom>
          <a:noFill/>
          <a:ln>
            <a:noFill/>
          </a:ln>
        </p:spPr>
      </p:pic>
      <p:sp>
        <p:nvSpPr>
          <p:cNvPr id="119" name="Google Shape;119;p3"/>
          <p:cNvSpPr txBox="1"/>
          <p:nvPr/>
        </p:nvSpPr>
        <p:spPr>
          <a:xfrm>
            <a:off x="8470999" y="3429297"/>
            <a:ext cx="2947087"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Urbanist SemiBold"/>
                <a:ea typeface="Urbanist SemiBold"/>
                <a:cs typeface="Urbanist SemiBold"/>
                <a:sym typeface="Urbanist SemiBold"/>
              </a:rPr>
              <a:t>Analítica Predictiva</a:t>
            </a:r>
            <a:endParaRPr b="0" i="0" sz="1400" u="none" cap="none" strike="noStrike">
              <a:solidFill>
                <a:srgbClr val="000000"/>
              </a:solidFill>
              <a:latin typeface="Arial"/>
              <a:ea typeface="Arial"/>
              <a:cs typeface="Arial"/>
              <a:sym typeface="Arial"/>
            </a:endParaRPr>
          </a:p>
        </p:txBody>
      </p:sp>
      <p:sp>
        <p:nvSpPr>
          <p:cNvPr id="120" name="Google Shape;120;p3"/>
          <p:cNvSpPr txBox="1"/>
          <p:nvPr/>
        </p:nvSpPr>
        <p:spPr>
          <a:xfrm>
            <a:off x="8470999" y="3848397"/>
            <a:ext cx="2806749" cy="1294804"/>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275"/>
              <a:buFont typeface="Arial"/>
              <a:buNone/>
            </a:pPr>
            <a:r>
              <a:rPr b="0" i="0" lang="en-US" sz="1275" u="none" cap="none" strike="noStrike">
                <a:solidFill>
                  <a:srgbClr val="94A3B8"/>
                </a:solidFill>
                <a:latin typeface="Lato"/>
                <a:ea typeface="Lato"/>
                <a:cs typeface="Lato"/>
                <a:sym typeface="Lato"/>
              </a:rPr>
              <a:t>Módulo de ciencia de datos que permite calcular tiempos promedio de reparación, eficiencia técnica y predecir proactivamente la demanda de inventario.</a:t>
            </a:r>
            <a:endParaRPr b="0" i="0" sz="1400" u="none" cap="none" strike="noStrike">
              <a:solidFill>
                <a:srgbClr val="000000"/>
              </a:solidFill>
              <a:latin typeface="Arial"/>
              <a:ea typeface="Arial"/>
              <a:cs typeface="Arial"/>
              <a:sym typeface="Arial"/>
            </a:endParaRPr>
          </a:p>
        </p:txBody>
      </p:sp>
      <p:pic>
        <p:nvPicPr>
          <p:cNvPr descr="image.png" id="121" name="Google Shape;121;p3"/>
          <p:cNvPicPr preferRelativeResize="0"/>
          <p:nvPr/>
        </p:nvPicPr>
        <p:blipFill rotWithShape="1">
          <a:blip r:embed="rId8">
            <a:alphaModFix/>
          </a:blip>
          <a:srcRect b="0" l="0" r="0" t="0"/>
          <a:stretch/>
        </p:blipFill>
        <p:spPr>
          <a:xfrm>
            <a:off x="914400" y="2800647"/>
            <a:ext cx="352425" cy="400050"/>
          </a:xfrm>
          <a:prstGeom prst="rect">
            <a:avLst/>
          </a:prstGeom>
          <a:noFill/>
          <a:ln>
            <a:noFill/>
          </a:ln>
        </p:spPr>
      </p:pic>
      <p:pic>
        <p:nvPicPr>
          <p:cNvPr descr="image.png" id="122" name="Google Shape;122;p3"/>
          <p:cNvPicPr preferRelativeResize="0"/>
          <p:nvPr/>
        </p:nvPicPr>
        <p:blipFill rotWithShape="1">
          <a:blip r:embed="rId9">
            <a:alphaModFix/>
          </a:blip>
          <a:srcRect b="0" l="0" r="0" t="0"/>
          <a:stretch/>
        </p:blipFill>
        <p:spPr>
          <a:xfrm>
            <a:off x="4692699" y="2800647"/>
            <a:ext cx="352425" cy="400050"/>
          </a:xfrm>
          <a:prstGeom prst="rect">
            <a:avLst/>
          </a:prstGeom>
          <a:noFill/>
          <a:ln>
            <a:noFill/>
          </a:ln>
        </p:spPr>
      </p:pic>
      <p:pic>
        <p:nvPicPr>
          <p:cNvPr descr="image.png" id="123" name="Google Shape;123;p3"/>
          <p:cNvPicPr preferRelativeResize="0"/>
          <p:nvPr/>
        </p:nvPicPr>
        <p:blipFill rotWithShape="1">
          <a:blip r:embed="rId10">
            <a:alphaModFix/>
          </a:blip>
          <a:srcRect b="0" l="0" r="0" t="0"/>
          <a:stretch/>
        </p:blipFill>
        <p:spPr>
          <a:xfrm>
            <a:off x="8470999" y="2800647"/>
            <a:ext cx="400050" cy="400050"/>
          </a:xfrm>
          <a:prstGeom prst="rect">
            <a:avLst/>
          </a:prstGeom>
          <a:noFill/>
          <a:ln>
            <a:noFill/>
          </a:ln>
        </p:spPr>
      </p:pic>
      <p:sp>
        <p:nvSpPr>
          <p:cNvPr id="124" name="Google Shape;124;p3"/>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8FAFC"/>
                </a:solidFill>
                <a:latin typeface="Urbanist"/>
                <a:ea typeface="Urbanist"/>
                <a:cs typeface="Urbanist"/>
                <a:sym typeface="Urbanist"/>
              </a:rPr>
              <a:t>¿Qué es </a:t>
            </a:r>
            <a:r>
              <a:rPr b="1" i="0" lang="en-US" sz="3300" u="none" cap="none" strike="noStrike">
                <a:solidFill>
                  <a:srgbClr val="00F0FF"/>
                </a:solidFill>
                <a:latin typeface="Urbanist"/>
                <a:ea typeface="Urbanist"/>
                <a:cs typeface="Urbanist"/>
                <a:sym typeface="Urbanist"/>
              </a:rPr>
              <a:t>SIGMA</a:t>
            </a:r>
            <a:r>
              <a:rPr b="1" i="0" lang="en-US" sz="3300" u="none" cap="none" strike="noStrike">
                <a:solidFill>
                  <a:srgbClr val="F8FAFC"/>
                </a:solidFill>
                <a:latin typeface="Urbanist"/>
                <a:ea typeface="Urbanist"/>
                <a:cs typeface="Urbanist"/>
                <a:sym typeface="Urbanist"/>
              </a:rPr>
              <a:t>?</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571500" y="1219200"/>
            <a:ext cx="11049000"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29" name="Shape 129"/>
        <p:cNvGrpSpPr/>
        <p:nvPr/>
      </p:nvGrpSpPr>
      <p:grpSpPr>
        <a:xfrm>
          <a:off x="0" y="0"/>
          <a:ext cx="0" cy="0"/>
          <a:chOff x="0" y="0"/>
          <a:chExt cx="0" cy="0"/>
        </a:xfrm>
      </p:grpSpPr>
      <p:pic>
        <p:nvPicPr>
          <p:cNvPr descr="image.png" id="130" name="Google Shape;130;p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1" name="Google Shape;131;p4"/>
          <p:cNvSpPr txBox="1"/>
          <p:nvPr/>
        </p:nvSpPr>
        <p:spPr>
          <a:xfrm>
            <a:off x="762000" y="762000"/>
            <a:ext cx="5300662" cy="5048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8FAFC"/>
                </a:solidFill>
                <a:latin typeface="Urbanist"/>
                <a:ea typeface="Urbanist"/>
                <a:cs typeface="Urbanist"/>
                <a:sym typeface="Urbanist"/>
              </a:rPr>
              <a:t>Perfil de </a:t>
            </a:r>
            <a:r>
              <a:rPr b="1" i="0" lang="en-US" sz="3300" u="none" cap="none" strike="noStrike">
                <a:solidFill>
                  <a:srgbClr val="00F0FF"/>
                </a:solidFill>
                <a:latin typeface="Urbanist"/>
                <a:ea typeface="Urbanist"/>
                <a:cs typeface="Urbanist"/>
                <a:sym typeface="Urbanist"/>
              </a:rPr>
              <a:t>Egreso</a:t>
            </a:r>
            <a:endParaRPr b="0" i="0" sz="1400" u="none" cap="none" strike="noStrike">
              <a:solidFill>
                <a:srgbClr val="000000"/>
              </a:solidFill>
              <a:latin typeface="Arial"/>
              <a:ea typeface="Arial"/>
              <a:cs typeface="Arial"/>
              <a:sym typeface="Arial"/>
            </a:endParaRPr>
          </a:p>
        </p:txBody>
      </p:sp>
      <p:pic>
        <p:nvPicPr>
          <p:cNvPr descr="image.png" id="132" name="Google Shape;132;p4"/>
          <p:cNvPicPr preferRelativeResize="0"/>
          <p:nvPr/>
        </p:nvPicPr>
        <p:blipFill rotWithShape="1">
          <a:blip r:embed="rId4">
            <a:alphaModFix/>
          </a:blip>
          <a:srcRect b="0" l="0" r="0" t="0"/>
          <a:stretch/>
        </p:blipFill>
        <p:spPr>
          <a:xfrm>
            <a:off x="6381750" y="0"/>
            <a:ext cx="5810250" cy="6858000"/>
          </a:xfrm>
          <a:prstGeom prst="rect">
            <a:avLst/>
          </a:prstGeom>
          <a:noFill/>
          <a:ln>
            <a:noFill/>
          </a:ln>
        </p:spPr>
      </p:pic>
      <p:sp>
        <p:nvSpPr>
          <p:cNvPr id="133" name="Google Shape;133;p4"/>
          <p:cNvSpPr txBox="1"/>
          <p:nvPr/>
        </p:nvSpPr>
        <p:spPr>
          <a:xfrm>
            <a:off x="762000" y="2220515"/>
            <a:ext cx="5300662" cy="3619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8FAFC"/>
                </a:solidFill>
                <a:latin typeface="Urbanist SemiBold"/>
                <a:ea typeface="Urbanist SemiBold"/>
                <a:cs typeface="Urbanist SemiBold"/>
                <a:sym typeface="Urbanist SemiBold"/>
              </a:rPr>
              <a:t>Desarrollo Full-Stack y Datos</a:t>
            </a:r>
            <a:endParaRPr b="0" i="0" sz="1400" u="none" cap="none" strike="noStrike">
              <a:solidFill>
                <a:srgbClr val="000000"/>
              </a:solidFill>
              <a:latin typeface="Arial"/>
              <a:ea typeface="Arial"/>
              <a:cs typeface="Arial"/>
              <a:sym typeface="Arial"/>
            </a:endParaRPr>
          </a:p>
        </p:txBody>
      </p:sp>
      <p:sp>
        <p:nvSpPr>
          <p:cNvPr id="134" name="Google Shape;134;p4"/>
          <p:cNvSpPr txBox="1"/>
          <p:nvPr/>
        </p:nvSpPr>
        <p:spPr>
          <a:xfrm>
            <a:off x="762000" y="2725340"/>
            <a:ext cx="5048250" cy="12799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75"/>
              <a:buFont typeface="Arial"/>
              <a:buNone/>
            </a:pPr>
            <a:r>
              <a:rPr b="0" i="0" lang="en-US" sz="1575" u="none" cap="none" strike="noStrike">
                <a:solidFill>
                  <a:srgbClr val="94A3B8"/>
                </a:solidFill>
                <a:latin typeface="Lato"/>
                <a:ea typeface="Lato"/>
                <a:cs typeface="Lato"/>
                <a:sym typeface="Lato"/>
              </a:rPr>
              <a:t>El proyecto exige aplicar competencias centrales de Ingeniería en Informática: análisis y diseño de sistemas, programación backend/frontend y modelamiento de bases de datos relacionales.</a:t>
            </a:r>
            <a:endParaRPr b="0" i="0" sz="1400" u="none" cap="none" strike="noStrike">
              <a:solidFill>
                <a:srgbClr val="000000"/>
              </a:solidFill>
              <a:latin typeface="Arial"/>
              <a:ea typeface="Arial"/>
              <a:cs typeface="Arial"/>
              <a:sym typeface="Arial"/>
            </a:endParaRPr>
          </a:p>
        </p:txBody>
      </p:sp>
      <p:sp>
        <p:nvSpPr>
          <p:cNvPr id="135" name="Google Shape;135;p4"/>
          <p:cNvSpPr txBox="1"/>
          <p:nvPr/>
        </p:nvSpPr>
        <p:spPr>
          <a:xfrm>
            <a:off x="762000" y="4243387"/>
            <a:ext cx="5048250" cy="12799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75"/>
              <a:buFont typeface="Arial"/>
              <a:buNone/>
            </a:pPr>
            <a:r>
              <a:rPr b="0" i="0" lang="en-US" sz="1575" u="none" cap="none" strike="noStrike">
                <a:solidFill>
                  <a:srgbClr val="94A3B8"/>
                </a:solidFill>
                <a:latin typeface="Lato"/>
                <a:ea typeface="Lato"/>
                <a:cs typeface="Lato"/>
                <a:sym typeface="Lato"/>
              </a:rPr>
              <a:t>Además, responde a nuestros intereses profesionales integrando </a:t>
            </a:r>
            <a:r>
              <a:rPr b="1" i="0" lang="en-US" sz="1575" u="none" cap="none" strike="noStrike">
                <a:solidFill>
                  <a:srgbClr val="94A3B8"/>
                </a:solidFill>
                <a:latin typeface="Lato"/>
                <a:ea typeface="Lato"/>
                <a:cs typeface="Lato"/>
                <a:sym typeface="Lato"/>
              </a:rPr>
              <a:t>Ciencia de Datos</a:t>
            </a:r>
            <a:r>
              <a:rPr b="0" i="0" lang="en-US" sz="1575" u="none" cap="none" strike="noStrike">
                <a:solidFill>
                  <a:srgbClr val="94A3B8"/>
                </a:solidFill>
                <a:latin typeface="Lato"/>
                <a:ea typeface="Lato"/>
                <a:cs typeface="Lato"/>
                <a:sym typeface="Lato"/>
              </a:rPr>
              <a:t> aplicada para resolver problemas reales, creando desde la arquitectura hasta el modelo predictivo funcional.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39" name="Shape 139"/>
        <p:cNvGrpSpPr/>
        <p:nvPr/>
      </p:nvGrpSpPr>
      <p:grpSpPr>
        <a:xfrm>
          <a:off x="0" y="0"/>
          <a:ext cx="0" cy="0"/>
          <a:chOff x="0" y="0"/>
          <a:chExt cx="0" cy="0"/>
        </a:xfrm>
      </p:grpSpPr>
      <p:pic>
        <p:nvPicPr>
          <p:cNvPr descr="image.png" id="140" name="Google Shape;140;p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1" name="Google Shape;141;p5"/>
          <p:cNvPicPr preferRelativeResize="0"/>
          <p:nvPr/>
        </p:nvPicPr>
        <p:blipFill rotWithShape="1">
          <a:blip r:embed="rId4">
            <a:alphaModFix/>
          </a:blip>
          <a:srcRect b="0" l="0" r="0" t="0"/>
          <a:stretch/>
        </p:blipFill>
        <p:spPr>
          <a:xfrm>
            <a:off x="571500" y="2569368"/>
            <a:ext cx="5286375" cy="2766863"/>
          </a:xfrm>
          <a:prstGeom prst="rect">
            <a:avLst/>
          </a:prstGeom>
          <a:noFill/>
          <a:ln>
            <a:noFill/>
          </a:ln>
        </p:spPr>
      </p:pic>
      <p:pic>
        <p:nvPicPr>
          <p:cNvPr descr="image.png" id="142" name="Google Shape;142;p5"/>
          <p:cNvPicPr preferRelativeResize="0"/>
          <p:nvPr/>
        </p:nvPicPr>
        <p:blipFill rotWithShape="1">
          <a:blip r:embed="rId5">
            <a:alphaModFix/>
          </a:blip>
          <a:srcRect b="0" l="0" r="0" t="0"/>
          <a:stretch/>
        </p:blipFill>
        <p:spPr>
          <a:xfrm>
            <a:off x="6334125" y="2569368"/>
            <a:ext cx="5286375" cy="2766863"/>
          </a:xfrm>
          <a:prstGeom prst="rect">
            <a:avLst/>
          </a:prstGeom>
          <a:noFill/>
          <a:ln>
            <a:noFill/>
          </a:ln>
        </p:spPr>
      </p:pic>
      <p:sp>
        <p:nvSpPr>
          <p:cNvPr id="143" name="Google Shape;143;p5"/>
          <p:cNvSpPr txBox="1"/>
          <p:nvPr/>
        </p:nvSpPr>
        <p:spPr>
          <a:xfrm>
            <a:off x="914400" y="2912268"/>
            <a:ext cx="4830603" cy="352425"/>
          </a:xfrm>
          <a:prstGeom prst="rect">
            <a:avLst/>
          </a:prstGeom>
          <a:noFill/>
          <a:ln>
            <a:noFill/>
          </a:ln>
        </p:spPr>
        <p:txBody>
          <a:bodyPr anchorCtr="0" anchor="t" bIns="0" lIns="428625" spcFirstLastPara="1" rIns="0" wrap="square" tIns="0">
            <a:spAutoFit/>
          </a:bodyPr>
          <a:lstStyle/>
          <a:p>
            <a:pPr indent="0" lvl="0" marL="0" marR="0" rtl="0" algn="l">
              <a:lnSpc>
                <a:spcPct val="100000"/>
              </a:lnSpc>
              <a:spcBef>
                <a:spcPts val="0"/>
              </a:spcBef>
              <a:spcAft>
                <a:spcPts val="0"/>
              </a:spcAft>
              <a:buClr>
                <a:srgbClr val="000000"/>
              </a:buClr>
              <a:buSzPts val="2250"/>
              <a:buFont typeface="Arial"/>
              <a:buNone/>
            </a:pPr>
            <a:r>
              <a:rPr b="0" i="0" lang="en-US" sz="2250" u="none" cap="none" strike="noStrike">
                <a:solidFill>
                  <a:srgbClr val="00F0FF"/>
                </a:solidFill>
                <a:latin typeface="Urbanist SemiBold"/>
                <a:ea typeface="Urbanist SemiBold"/>
                <a:cs typeface="Urbanist SemiBold"/>
                <a:sym typeface="Urbanist SemiBold"/>
              </a:rPr>
              <a:t>Alcance y Tiempo</a:t>
            </a:r>
            <a:endParaRPr b="0" i="0" sz="1400" u="none" cap="none" strike="noStrike">
              <a:solidFill>
                <a:srgbClr val="000000"/>
              </a:solidFill>
              <a:latin typeface="Arial"/>
              <a:ea typeface="Arial"/>
              <a:cs typeface="Arial"/>
              <a:sym typeface="Arial"/>
            </a:endParaRPr>
          </a:p>
        </p:txBody>
      </p:sp>
      <p:sp>
        <p:nvSpPr>
          <p:cNvPr id="144" name="Google Shape;144;p5"/>
          <p:cNvSpPr txBox="1"/>
          <p:nvPr/>
        </p:nvSpPr>
        <p:spPr>
          <a:xfrm>
            <a:off x="914400" y="3455193"/>
            <a:ext cx="4600575" cy="1538138"/>
          </a:xfrm>
          <a:prstGeom prst="rect">
            <a:avLst/>
          </a:prstGeom>
          <a:noFill/>
          <a:ln>
            <a:noFill/>
          </a:ln>
        </p:spPr>
        <p:txBody>
          <a:bodyPr anchorCtr="0" anchor="t" bIns="0" lIns="0" spcFirstLastPara="1" rIns="0" wrap="square" tIns="0">
            <a:spAutoFit/>
          </a:bodyPr>
          <a:lstStyle/>
          <a:p>
            <a:pPr indent="0" lvl="0" marL="0" marR="0" rtl="0" algn="l">
              <a:lnSpc>
                <a:spcPct val="169964"/>
              </a:lnSpc>
              <a:spcBef>
                <a:spcPts val="0"/>
              </a:spcBef>
              <a:spcAft>
                <a:spcPts val="0"/>
              </a:spcAft>
              <a:buClr>
                <a:srgbClr val="000000"/>
              </a:buClr>
              <a:buSzPts val="1425"/>
              <a:buFont typeface="Arial"/>
              <a:buNone/>
            </a:pPr>
            <a:r>
              <a:rPr b="0" i="0" lang="en-US" sz="1425" u="none" cap="none" strike="noStrike">
                <a:solidFill>
                  <a:srgbClr val="CBD5E1"/>
                </a:solidFill>
                <a:latin typeface="Lato"/>
                <a:ea typeface="Lato"/>
                <a:cs typeface="Lato"/>
                <a:sym typeface="Lato"/>
              </a:rPr>
              <a:t>El proyecto posee un enfoque acotado y modular. Las horas asignadas a la asignatura de CAPSTONE permiten dedicar tiempo semanal sostenido, posibilitando priorizar los módulos esenciales y dejar las mejoras incrementales para fases posteriores.</a:t>
            </a:r>
            <a:endParaRPr b="0" i="0" sz="1400" u="none" cap="none" strike="noStrike">
              <a:solidFill>
                <a:srgbClr val="000000"/>
              </a:solidFill>
              <a:latin typeface="Arial"/>
              <a:ea typeface="Arial"/>
              <a:cs typeface="Arial"/>
              <a:sym typeface="Arial"/>
            </a:endParaRPr>
          </a:p>
        </p:txBody>
      </p:sp>
      <p:sp>
        <p:nvSpPr>
          <p:cNvPr id="145" name="Google Shape;145;p5"/>
          <p:cNvSpPr txBox="1"/>
          <p:nvPr/>
        </p:nvSpPr>
        <p:spPr>
          <a:xfrm>
            <a:off x="6677025" y="2912268"/>
            <a:ext cx="4830603" cy="352425"/>
          </a:xfrm>
          <a:prstGeom prst="rect">
            <a:avLst/>
          </a:prstGeom>
          <a:noFill/>
          <a:ln>
            <a:noFill/>
          </a:ln>
        </p:spPr>
        <p:txBody>
          <a:bodyPr anchorCtr="0" anchor="t" bIns="0" lIns="504825" spcFirstLastPara="1" rIns="0" wrap="square" tIns="0">
            <a:spAutoFit/>
          </a:bodyPr>
          <a:lstStyle/>
          <a:p>
            <a:pPr indent="0" lvl="0" marL="0" marR="0" rtl="0" algn="l">
              <a:lnSpc>
                <a:spcPct val="100000"/>
              </a:lnSpc>
              <a:spcBef>
                <a:spcPts val="0"/>
              </a:spcBef>
              <a:spcAft>
                <a:spcPts val="0"/>
              </a:spcAft>
              <a:buClr>
                <a:srgbClr val="000000"/>
              </a:buClr>
              <a:buSzPts val="2250"/>
              <a:buFont typeface="Arial"/>
              <a:buNone/>
            </a:pPr>
            <a:r>
              <a:rPr b="0" i="0" lang="en-US" sz="2250" u="none" cap="none" strike="noStrike">
                <a:solidFill>
                  <a:srgbClr val="00F0FF"/>
                </a:solidFill>
                <a:latin typeface="Urbanist SemiBold"/>
                <a:ea typeface="Urbanist SemiBold"/>
                <a:cs typeface="Urbanist SemiBold"/>
                <a:sym typeface="Urbanist SemiBold"/>
              </a:rPr>
              <a:t>Recursos y Stack</a:t>
            </a:r>
            <a:endParaRPr b="0" i="0" sz="1400" u="none" cap="none" strike="noStrike">
              <a:solidFill>
                <a:srgbClr val="000000"/>
              </a:solidFill>
              <a:latin typeface="Arial"/>
              <a:ea typeface="Arial"/>
              <a:cs typeface="Arial"/>
              <a:sym typeface="Arial"/>
            </a:endParaRPr>
          </a:p>
        </p:txBody>
      </p:sp>
      <p:sp>
        <p:nvSpPr>
          <p:cNvPr id="146" name="Google Shape;146;p5"/>
          <p:cNvSpPr txBox="1"/>
          <p:nvPr/>
        </p:nvSpPr>
        <p:spPr>
          <a:xfrm>
            <a:off x="6677025" y="3455193"/>
            <a:ext cx="4600575" cy="1538138"/>
          </a:xfrm>
          <a:prstGeom prst="rect">
            <a:avLst/>
          </a:prstGeom>
          <a:noFill/>
          <a:ln>
            <a:noFill/>
          </a:ln>
        </p:spPr>
        <p:txBody>
          <a:bodyPr anchorCtr="0" anchor="t" bIns="0" lIns="0" spcFirstLastPara="1" rIns="0" wrap="square" tIns="0">
            <a:spAutoFit/>
          </a:bodyPr>
          <a:lstStyle/>
          <a:p>
            <a:pPr indent="0" lvl="0" marL="0" marR="0" rtl="0" algn="l">
              <a:lnSpc>
                <a:spcPct val="169964"/>
              </a:lnSpc>
              <a:spcBef>
                <a:spcPts val="0"/>
              </a:spcBef>
              <a:spcAft>
                <a:spcPts val="0"/>
              </a:spcAft>
              <a:buClr>
                <a:srgbClr val="000000"/>
              </a:buClr>
              <a:buSzPts val="1425"/>
              <a:buFont typeface="Arial"/>
              <a:buNone/>
            </a:pPr>
            <a:r>
              <a:rPr b="0" i="0" lang="en-US" sz="1425" u="none" cap="none" strike="noStrike">
                <a:solidFill>
                  <a:srgbClr val="CBD5E1"/>
                </a:solidFill>
                <a:latin typeface="Lato"/>
                <a:ea typeface="Lato"/>
                <a:cs typeface="Lato"/>
                <a:sym typeface="Lato"/>
              </a:rPr>
              <a:t>Se utilizarán herramientas gratuitas (Python, React, MySQL, Git) sin costo adicional de infraestructura. El equipo ya posee conocimientos sólidos en estas tecnologías adquiridos en la carrera, mitigando drásticamente la curva de aprendizaje inicial.</a:t>
            </a:r>
            <a:endParaRPr b="0" i="0" sz="1400" u="none" cap="none" strike="noStrike">
              <a:solidFill>
                <a:srgbClr val="000000"/>
              </a:solidFill>
              <a:latin typeface="Arial"/>
              <a:ea typeface="Arial"/>
              <a:cs typeface="Arial"/>
              <a:sym typeface="Arial"/>
            </a:endParaRPr>
          </a:p>
        </p:txBody>
      </p:sp>
      <p:pic>
        <p:nvPicPr>
          <p:cNvPr descr="image.png" id="147" name="Google Shape;147;p5"/>
          <p:cNvPicPr preferRelativeResize="0"/>
          <p:nvPr/>
        </p:nvPicPr>
        <p:blipFill rotWithShape="1">
          <a:blip r:embed="rId6">
            <a:alphaModFix/>
          </a:blip>
          <a:srcRect b="0" l="0" r="0" t="0"/>
          <a:stretch/>
        </p:blipFill>
        <p:spPr>
          <a:xfrm>
            <a:off x="914400" y="2940843"/>
            <a:ext cx="285750" cy="285750"/>
          </a:xfrm>
          <a:prstGeom prst="rect">
            <a:avLst/>
          </a:prstGeom>
          <a:noFill/>
          <a:ln>
            <a:noFill/>
          </a:ln>
        </p:spPr>
      </p:pic>
      <p:pic>
        <p:nvPicPr>
          <p:cNvPr descr="image.png" id="148" name="Google Shape;148;p5"/>
          <p:cNvPicPr preferRelativeResize="0"/>
          <p:nvPr/>
        </p:nvPicPr>
        <p:blipFill rotWithShape="1">
          <a:blip r:embed="rId7">
            <a:alphaModFix/>
          </a:blip>
          <a:srcRect b="0" l="0" r="0" t="0"/>
          <a:stretch/>
        </p:blipFill>
        <p:spPr>
          <a:xfrm>
            <a:off x="6677025" y="2940843"/>
            <a:ext cx="361950" cy="285750"/>
          </a:xfrm>
          <a:prstGeom prst="rect">
            <a:avLst/>
          </a:prstGeom>
          <a:noFill/>
          <a:ln>
            <a:noFill/>
          </a:ln>
        </p:spPr>
      </p:pic>
      <p:sp>
        <p:nvSpPr>
          <p:cNvPr id="149" name="Google Shape;149;p5"/>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8FAFC"/>
                </a:solidFill>
                <a:latin typeface="Urbanist"/>
                <a:ea typeface="Urbanist"/>
                <a:cs typeface="Urbanist"/>
                <a:sym typeface="Urbanist"/>
              </a:rPr>
              <a:t>Factibilidad de </a:t>
            </a:r>
            <a:r>
              <a:rPr b="1" i="0" lang="en-US" sz="3300" u="none" cap="none" strike="noStrike">
                <a:solidFill>
                  <a:srgbClr val="00F0FF"/>
                </a:solidFill>
                <a:latin typeface="Urbanist"/>
                <a:ea typeface="Urbanist"/>
                <a:cs typeface="Urbanist"/>
                <a:sym typeface="Urbanist"/>
              </a:rPr>
              <a:t>Desarrollo</a:t>
            </a:r>
            <a:endParaRPr b="0" i="0" sz="1400" u="none" cap="none" strike="noStrike">
              <a:solidFill>
                <a:srgbClr val="000000"/>
              </a:solidFill>
              <a:latin typeface="Arial"/>
              <a:ea typeface="Arial"/>
              <a:cs typeface="Arial"/>
              <a:sym typeface="Arial"/>
            </a:endParaRPr>
          </a:p>
        </p:txBody>
      </p:sp>
      <p:sp>
        <p:nvSpPr>
          <p:cNvPr id="150" name="Google Shape;150;p5"/>
          <p:cNvSpPr/>
          <p:nvPr/>
        </p:nvSpPr>
        <p:spPr>
          <a:xfrm>
            <a:off x="571500" y="1219200"/>
            <a:ext cx="11049000"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54" name="Shape 154"/>
        <p:cNvGrpSpPr/>
        <p:nvPr/>
      </p:nvGrpSpPr>
      <p:grpSpPr>
        <a:xfrm>
          <a:off x="0" y="0"/>
          <a:ext cx="0" cy="0"/>
          <a:chOff x="0" y="0"/>
          <a:chExt cx="0" cy="0"/>
        </a:xfrm>
      </p:grpSpPr>
      <p:pic>
        <p:nvPicPr>
          <p:cNvPr descr="image.png" id="155" name="Google Shape;155;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6" name="Google Shape;156;p6"/>
          <p:cNvSpPr txBox="1"/>
          <p:nvPr/>
        </p:nvSpPr>
        <p:spPr>
          <a:xfrm>
            <a:off x="5072062" y="1895475"/>
            <a:ext cx="2047875"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350"/>
              <a:buFont typeface="Arial"/>
              <a:buNone/>
            </a:pPr>
            <a:r>
              <a:rPr b="1" i="0" lang="en-US" sz="1350" u="none" cap="none" strike="noStrike">
                <a:solidFill>
                  <a:srgbClr val="94A3B8"/>
                </a:solidFill>
                <a:latin typeface="Urbanist"/>
                <a:ea typeface="Urbanist"/>
                <a:cs typeface="Urbanist"/>
                <a:sym typeface="Urbanist"/>
              </a:rPr>
              <a:t>OBJETIVO GENERAL</a:t>
            </a:r>
            <a:endParaRPr b="0" i="0" sz="1400" u="none" cap="none" strike="noStrike">
              <a:solidFill>
                <a:srgbClr val="000000"/>
              </a:solidFill>
              <a:latin typeface="Arial"/>
              <a:ea typeface="Arial"/>
              <a:cs typeface="Arial"/>
              <a:sym typeface="Arial"/>
            </a:endParaRPr>
          </a:p>
        </p:txBody>
      </p:sp>
      <p:sp>
        <p:nvSpPr>
          <p:cNvPr id="157" name="Google Shape;157;p6"/>
          <p:cNvSpPr txBox="1"/>
          <p:nvPr/>
        </p:nvSpPr>
        <p:spPr>
          <a:xfrm>
            <a:off x="3065621" y="2343150"/>
            <a:ext cx="6060757" cy="7334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00F0FF"/>
                </a:solidFill>
                <a:latin typeface="Urbanist"/>
                <a:ea typeface="Urbanist"/>
                <a:cs typeface="Urbanist"/>
                <a:sym typeface="Urbanist"/>
              </a:rPr>
              <a:t>La Meta del Proyecto</a:t>
            </a:r>
            <a:endParaRPr b="0" i="0" sz="1400" u="none" cap="none" strike="noStrike">
              <a:solidFill>
                <a:srgbClr val="000000"/>
              </a:solidFill>
              <a:latin typeface="Arial"/>
              <a:ea typeface="Arial"/>
              <a:cs typeface="Arial"/>
              <a:sym typeface="Arial"/>
            </a:endParaRPr>
          </a:p>
        </p:txBody>
      </p:sp>
      <p:sp>
        <p:nvSpPr>
          <p:cNvPr id="158" name="Google Shape;158;p6"/>
          <p:cNvSpPr txBox="1"/>
          <p:nvPr/>
        </p:nvSpPr>
        <p:spPr>
          <a:xfrm>
            <a:off x="1809750" y="3362325"/>
            <a:ext cx="8572500" cy="1600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2100"/>
              <a:buFont typeface="Arial"/>
              <a:buNone/>
            </a:pPr>
            <a:r>
              <a:rPr b="0" i="0" lang="en-US" sz="2100" u="none" cap="none" strike="noStrike">
                <a:solidFill>
                  <a:srgbClr val="F8FAFC"/>
                </a:solidFill>
                <a:latin typeface="Lato Light"/>
                <a:ea typeface="Lato Light"/>
                <a:cs typeface="Lato Light"/>
                <a:sym typeface="Lato Light"/>
              </a:rPr>
              <a:t>"Desarrollar una plataforma web de gestión que permita a talleres mecánicos administrar el agendamiento, reparaciones e inventario, incorporando un </a:t>
            </a:r>
            <a:r>
              <a:rPr b="0" i="0" lang="en-US" sz="2100" u="none" cap="none" strike="noStrike">
                <a:solidFill>
                  <a:srgbClr val="F8FAFC"/>
                </a:solidFill>
                <a:latin typeface="Lato"/>
                <a:ea typeface="Lato"/>
                <a:cs typeface="Lato"/>
                <a:sym typeface="Lato"/>
              </a:rPr>
              <a:t>módulo de reportes con analítica predictiva</a:t>
            </a:r>
            <a:r>
              <a:rPr b="0" i="0" lang="en-US" sz="2100" u="none" cap="none" strike="noStrike">
                <a:solidFill>
                  <a:srgbClr val="F8FAFC"/>
                </a:solidFill>
                <a:latin typeface="Lato Light"/>
                <a:ea typeface="Lato Light"/>
                <a:cs typeface="Lato Light"/>
                <a:sym typeface="Lato Light"/>
              </a:rPr>
              <a:t> sobre los datos operacionales."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62" name="Shape 162"/>
        <p:cNvGrpSpPr/>
        <p:nvPr/>
      </p:nvGrpSpPr>
      <p:grpSpPr>
        <a:xfrm>
          <a:off x="0" y="0"/>
          <a:ext cx="0" cy="0"/>
          <a:chOff x="0" y="0"/>
          <a:chExt cx="0" cy="0"/>
        </a:xfrm>
      </p:grpSpPr>
      <p:pic>
        <p:nvPicPr>
          <p:cNvPr descr="image.png" id="163" name="Google Shape;163;p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4" name="Google Shape;164;p7"/>
          <p:cNvSpPr txBox="1"/>
          <p:nvPr/>
        </p:nvSpPr>
        <p:spPr>
          <a:xfrm>
            <a:off x="1809750" y="1757660"/>
            <a:ext cx="9048750" cy="639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75"/>
              <a:buFont typeface="Arial"/>
              <a:buNone/>
            </a:pPr>
            <a:r>
              <a:rPr b="1" i="0" lang="en-US" sz="1575" u="none" cap="none" strike="noStrike">
                <a:solidFill>
                  <a:srgbClr val="F8FAFC"/>
                </a:solidFill>
                <a:latin typeface="Lato"/>
                <a:ea typeface="Lato"/>
                <a:cs typeface="Lato"/>
                <a:sym typeface="Lato"/>
              </a:rPr>
              <a:t>Modelo de Datos:</a:t>
            </a:r>
            <a:r>
              <a:rPr b="0" i="0" lang="en-US" sz="1575" u="none" cap="none" strike="noStrike">
                <a:solidFill>
                  <a:srgbClr val="CBD5E1"/>
                </a:solidFill>
                <a:latin typeface="Lato"/>
                <a:ea typeface="Lato"/>
                <a:cs typeface="Lato"/>
                <a:sym typeface="Lato"/>
              </a:rPr>
              <a:t> Diseñar la arquitectura multi-tenant para asegurar y aislar la información de cada taller.</a:t>
            </a:r>
            <a:endParaRPr b="0" i="0" sz="1400" u="none" cap="none" strike="noStrike">
              <a:solidFill>
                <a:srgbClr val="000000"/>
              </a:solidFill>
              <a:latin typeface="Arial"/>
              <a:ea typeface="Arial"/>
              <a:cs typeface="Arial"/>
              <a:sym typeface="Arial"/>
            </a:endParaRPr>
          </a:p>
        </p:txBody>
      </p:sp>
      <p:sp>
        <p:nvSpPr>
          <p:cNvPr id="165" name="Google Shape;165;p7"/>
          <p:cNvSpPr txBox="1"/>
          <p:nvPr/>
        </p:nvSpPr>
        <p:spPr>
          <a:xfrm>
            <a:off x="1809750" y="2635746"/>
            <a:ext cx="9048750" cy="639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75"/>
              <a:buFont typeface="Arial"/>
              <a:buNone/>
            </a:pPr>
            <a:r>
              <a:rPr b="1" i="0" lang="en-US" sz="1575" u="none" cap="none" strike="noStrike">
                <a:solidFill>
                  <a:srgbClr val="F8FAFC"/>
                </a:solidFill>
                <a:latin typeface="Lato"/>
                <a:ea typeface="Lato"/>
                <a:cs typeface="Lato"/>
                <a:sym typeface="Lato"/>
              </a:rPr>
              <a:t>Backend / API:</a:t>
            </a:r>
            <a:r>
              <a:rPr b="0" i="0" lang="en-US" sz="1575" u="none" cap="none" strike="noStrike">
                <a:solidFill>
                  <a:srgbClr val="CBD5E1"/>
                </a:solidFill>
                <a:latin typeface="Lato"/>
                <a:ea typeface="Lato"/>
                <a:cs typeface="Lato"/>
                <a:sym typeface="Lato"/>
              </a:rPr>
              <a:t> Implementar una API REST en Django para los módulos de agendamiento, órdenes, técnicos e inventario.</a:t>
            </a:r>
            <a:endParaRPr b="0" i="0" sz="1400" u="none" cap="none" strike="noStrike">
              <a:solidFill>
                <a:srgbClr val="000000"/>
              </a:solidFill>
              <a:latin typeface="Arial"/>
              <a:ea typeface="Arial"/>
              <a:cs typeface="Arial"/>
              <a:sym typeface="Arial"/>
            </a:endParaRPr>
          </a:p>
        </p:txBody>
      </p:sp>
      <p:sp>
        <p:nvSpPr>
          <p:cNvPr id="166" name="Google Shape;166;p7"/>
          <p:cNvSpPr txBox="1"/>
          <p:nvPr/>
        </p:nvSpPr>
        <p:spPr>
          <a:xfrm>
            <a:off x="1809750" y="3513832"/>
            <a:ext cx="9048750" cy="639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75"/>
              <a:buFont typeface="Arial"/>
              <a:buNone/>
            </a:pPr>
            <a:r>
              <a:rPr b="1" i="0" lang="en-US" sz="1575" u="none" cap="none" strike="noStrike">
                <a:solidFill>
                  <a:srgbClr val="F8FAFC"/>
                </a:solidFill>
                <a:latin typeface="Lato"/>
                <a:ea typeface="Lato"/>
                <a:cs typeface="Lato"/>
                <a:sym typeface="Lato"/>
              </a:rPr>
              <a:t>Frontend Interactivo:</a:t>
            </a:r>
            <a:r>
              <a:rPr b="0" i="0" lang="en-US" sz="1575" u="none" cap="none" strike="noStrike">
                <a:solidFill>
                  <a:srgbClr val="CBD5E1"/>
                </a:solidFill>
                <a:latin typeface="Lato"/>
                <a:ea typeface="Lato"/>
                <a:cs typeface="Lato"/>
                <a:sym typeface="Lato"/>
              </a:rPr>
              <a:t> Desarrollar una interfaz en React que consuma la API y habilite dinámicamente los módulos.</a:t>
            </a:r>
            <a:endParaRPr b="0" i="0" sz="1400" u="none" cap="none" strike="noStrike">
              <a:solidFill>
                <a:srgbClr val="000000"/>
              </a:solidFill>
              <a:latin typeface="Arial"/>
              <a:ea typeface="Arial"/>
              <a:cs typeface="Arial"/>
              <a:sym typeface="Arial"/>
            </a:endParaRPr>
          </a:p>
        </p:txBody>
      </p:sp>
      <p:sp>
        <p:nvSpPr>
          <p:cNvPr id="167" name="Google Shape;167;p7"/>
          <p:cNvSpPr txBox="1"/>
          <p:nvPr/>
        </p:nvSpPr>
        <p:spPr>
          <a:xfrm>
            <a:off x="1809750" y="4391917"/>
            <a:ext cx="9048750" cy="639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75"/>
              <a:buFont typeface="Arial"/>
              <a:buNone/>
            </a:pPr>
            <a:r>
              <a:rPr b="1" i="0" lang="en-US" sz="1575" u="none" cap="none" strike="noStrike">
                <a:solidFill>
                  <a:srgbClr val="F8FAFC"/>
                </a:solidFill>
                <a:latin typeface="Lato"/>
                <a:ea typeface="Lato"/>
                <a:cs typeface="Lato"/>
                <a:sym typeface="Lato"/>
              </a:rPr>
              <a:t>Motor Predictivo:</a:t>
            </a:r>
            <a:r>
              <a:rPr b="0" i="0" lang="en-US" sz="1575" u="none" cap="none" strike="noStrike">
                <a:solidFill>
                  <a:srgbClr val="CBD5E1"/>
                </a:solidFill>
                <a:latin typeface="Lato"/>
                <a:ea typeface="Lato"/>
                <a:cs typeface="Lato"/>
                <a:sym typeface="Lato"/>
              </a:rPr>
              <a:t> Construir un modelo analítico que estime la demanda de repuestos basándose en el historial.</a:t>
            </a:r>
            <a:endParaRPr b="0" i="0" sz="1400" u="none" cap="none" strike="noStrike">
              <a:solidFill>
                <a:srgbClr val="000000"/>
              </a:solidFill>
              <a:latin typeface="Arial"/>
              <a:ea typeface="Arial"/>
              <a:cs typeface="Arial"/>
              <a:sym typeface="Arial"/>
            </a:endParaRPr>
          </a:p>
        </p:txBody>
      </p:sp>
      <p:sp>
        <p:nvSpPr>
          <p:cNvPr id="168" name="Google Shape;168;p7"/>
          <p:cNvSpPr txBox="1"/>
          <p:nvPr/>
        </p:nvSpPr>
        <p:spPr>
          <a:xfrm>
            <a:off x="1809750" y="5270003"/>
            <a:ext cx="9048750" cy="6399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75"/>
              <a:buFont typeface="Arial"/>
              <a:buNone/>
            </a:pPr>
            <a:r>
              <a:rPr b="1" i="0" lang="en-US" sz="1575" u="none" cap="none" strike="noStrike">
                <a:solidFill>
                  <a:srgbClr val="F8FAFC"/>
                </a:solidFill>
                <a:latin typeface="Lato"/>
                <a:ea typeface="Lato"/>
                <a:cs typeface="Lato"/>
                <a:sym typeface="Lato"/>
              </a:rPr>
              <a:t>Dashboard Gerencial:</a:t>
            </a:r>
            <a:r>
              <a:rPr b="0" i="0" lang="en-US" sz="1575" u="none" cap="none" strike="noStrike">
                <a:solidFill>
                  <a:srgbClr val="CBD5E1"/>
                </a:solidFill>
                <a:latin typeface="Lato"/>
                <a:ea typeface="Lato"/>
                <a:cs typeface="Lato"/>
                <a:sym typeface="Lato"/>
              </a:rPr>
              <a:t> Visualizar reportes de tiempos de reparación, eficiencia de técnicos y sugerencias de compra.</a:t>
            </a:r>
            <a:endParaRPr b="0" i="0" sz="1400" u="none" cap="none" strike="noStrike">
              <a:solidFill>
                <a:srgbClr val="000000"/>
              </a:solidFill>
              <a:latin typeface="Arial"/>
              <a:ea typeface="Arial"/>
              <a:cs typeface="Arial"/>
              <a:sym typeface="Arial"/>
            </a:endParaRPr>
          </a:p>
        </p:txBody>
      </p:sp>
      <p:pic>
        <p:nvPicPr>
          <p:cNvPr descr="image.png" id="169" name="Google Shape;169;p7"/>
          <p:cNvPicPr preferRelativeResize="0"/>
          <p:nvPr/>
        </p:nvPicPr>
        <p:blipFill rotWithShape="1">
          <a:blip r:embed="rId4">
            <a:alphaModFix/>
          </a:blip>
          <a:srcRect b="0" l="0" r="0" t="0"/>
          <a:stretch/>
        </p:blipFill>
        <p:spPr>
          <a:xfrm>
            <a:off x="1333500" y="1776710"/>
            <a:ext cx="228600" cy="247650"/>
          </a:xfrm>
          <a:prstGeom prst="rect">
            <a:avLst/>
          </a:prstGeom>
          <a:noFill/>
          <a:ln>
            <a:noFill/>
          </a:ln>
        </p:spPr>
      </p:pic>
      <p:pic>
        <p:nvPicPr>
          <p:cNvPr descr="image.png" id="170" name="Google Shape;170;p7"/>
          <p:cNvPicPr preferRelativeResize="0"/>
          <p:nvPr/>
        </p:nvPicPr>
        <p:blipFill rotWithShape="1">
          <a:blip r:embed="rId5">
            <a:alphaModFix/>
          </a:blip>
          <a:srcRect b="0" l="0" r="0" t="0"/>
          <a:stretch/>
        </p:blipFill>
        <p:spPr>
          <a:xfrm>
            <a:off x="1333500" y="2654796"/>
            <a:ext cx="228600" cy="247650"/>
          </a:xfrm>
          <a:prstGeom prst="rect">
            <a:avLst/>
          </a:prstGeom>
          <a:noFill/>
          <a:ln>
            <a:noFill/>
          </a:ln>
        </p:spPr>
      </p:pic>
      <p:pic>
        <p:nvPicPr>
          <p:cNvPr descr="image.png" id="171" name="Google Shape;171;p7"/>
          <p:cNvPicPr preferRelativeResize="0"/>
          <p:nvPr/>
        </p:nvPicPr>
        <p:blipFill rotWithShape="1">
          <a:blip r:embed="rId6">
            <a:alphaModFix/>
          </a:blip>
          <a:srcRect b="0" l="0" r="0" t="0"/>
          <a:stretch/>
        </p:blipFill>
        <p:spPr>
          <a:xfrm>
            <a:off x="1333500" y="3532882"/>
            <a:ext cx="257175" cy="247650"/>
          </a:xfrm>
          <a:prstGeom prst="rect">
            <a:avLst/>
          </a:prstGeom>
          <a:noFill/>
          <a:ln>
            <a:noFill/>
          </a:ln>
        </p:spPr>
      </p:pic>
      <p:pic>
        <p:nvPicPr>
          <p:cNvPr descr="image.png" id="172" name="Google Shape;172;p7"/>
          <p:cNvPicPr preferRelativeResize="0"/>
          <p:nvPr/>
        </p:nvPicPr>
        <p:blipFill rotWithShape="1">
          <a:blip r:embed="rId7">
            <a:alphaModFix/>
          </a:blip>
          <a:srcRect b="0" l="0" r="0" t="0"/>
          <a:stretch/>
        </p:blipFill>
        <p:spPr>
          <a:xfrm>
            <a:off x="1333500" y="4410967"/>
            <a:ext cx="228600" cy="247650"/>
          </a:xfrm>
          <a:prstGeom prst="rect">
            <a:avLst/>
          </a:prstGeom>
          <a:noFill/>
          <a:ln>
            <a:noFill/>
          </a:ln>
        </p:spPr>
      </p:pic>
      <p:pic>
        <p:nvPicPr>
          <p:cNvPr descr="image.png" id="173" name="Google Shape;173;p7"/>
          <p:cNvPicPr preferRelativeResize="0"/>
          <p:nvPr/>
        </p:nvPicPr>
        <p:blipFill rotWithShape="1">
          <a:blip r:embed="rId8">
            <a:alphaModFix/>
          </a:blip>
          <a:srcRect b="0" l="0" r="0" t="0"/>
          <a:stretch/>
        </p:blipFill>
        <p:spPr>
          <a:xfrm>
            <a:off x="1333500" y="5289053"/>
            <a:ext cx="257175" cy="247650"/>
          </a:xfrm>
          <a:prstGeom prst="rect">
            <a:avLst/>
          </a:prstGeom>
          <a:noFill/>
          <a:ln>
            <a:noFill/>
          </a:ln>
        </p:spPr>
      </p:pic>
      <p:sp>
        <p:nvSpPr>
          <p:cNvPr id="174" name="Google Shape;174;p7"/>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8FAFC"/>
                </a:solidFill>
                <a:latin typeface="Urbanist"/>
                <a:ea typeface="Urbanist"/>
                <a:cs typeface="Urbanist"/>
                <a:sym typeface="Urbanist"/>
              </a:rPr>
              <a:t>Objetivos </a:t>
            </a:r>
            <a:r>
              <a:rPr b="1" i="0" lang="en-US" sz="3300" u="none" cap="none" strike="noStrike">
                <a:solidFill>
                  <a:srgbClr val="00F0FF"/>
                </a:solidFill>
                <a:latin typeface="Urbanist"/>
                <a:ea typeface="Urbanist"/>
                <a:cs typeface="Urbanist"/>
                <a:sym typeface="Urbanist"/>
              </a:rPr>
              <a:t>Específicos</a:t>
            </a:r>
            <a:endParaRPr b="0" i="0" sz="1400" u="none" cap="none" strike="noStrike">
              <a:solidFill>
                <a:srgbClr val="000000"/>
              </a:solidFill>
              <a:latin typeface="Arial"/>
              <a:ea typeface="Arial"/>
              <a:cs typeface="Arial"/>
              <a:sym typeface="Arial"/>
            </a:endParaRPr>
          </a:p>
        </p:txBody>
      </p:sp>
      <p:sp>
        <p:nvSpPr>
          <p:cNvPr id="175" name="Google Shape;175;p7"/>
          <p:cNvSpPr/>
          <p:nvPr/>
        </p:nvSpPr>
        <p:spPr>
          <a:xfrm>
            <a:off x="571500" y="1219200"/>
            <a:ext cx="11049000"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79" name="Shape 179"/>
        <p:cNvGrpSpPr/>
        <p:nvPr/>
      </p:nvGrpSpPr>
      <p:grpSpPr>
        <a:xfrm>
          <a:off x="0" y="0"/>
          <a:ext cx="0" cy="0"/>
          <a:chOff x="0" y="0"/>
          <a:chExt cx="0" cy="0"/>
        </a:xfrm>
      </p:grpSpPr>
      <p:pic>
        <p:nvPicPr>
          <p:cNvPr descr="image.png" id="180" name="Google Shape;180;p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1" name="Google Shape;181;p8"/>
          <p:cNvPicPr preferRelativeResize="0"/>
          <p:nvPr/>
        </p:nvPicPr>
        <p:blipFill rotWithShape="1">
          <a:blip r:embed="rId4">
            <a:alphaModFix/>
          </a:blip>
          <a:srcRect b="0" l="0" r="0" t="0"/>
          <a:stretch/>
        </p:blipFill>
        <p:spPr>
          <a:xfrm>
            <a:off x="571500" y="2543323"/>
            <a:ext cx="3492549" cy="2819102"/>
          </a:xfrm>
          <a:prstGeom prst="rect">
            <a:avLst/>
          </a:prstGeom>
          <a:noFill/>
          <a:ln>
            <a:noFill/>
          </a:ln>
        </p:spPr>
      </p:pic>
      <p:pic>
        <p:nvPicPr>
          <p:cNvPr descr="image.png" id="182" name="Google Shape;182;p8"/>
          <p:cNvPicPr preferRelativeResize="0"/>
          <p:nvPr/>
        </p:nvPicPr>
        <p:blipFill rotWithShape="1">
          <a:blip r:embed="rId5">
            <a:alphaModFix/>
          </a:blip>
          <a:srcRect b="0" l="0" r="0" t="0"/>
          <a:stretch/>
        </p:blipFill>
        <p:spPr>
          <a:xfrm>
            <a:off x="4349799" y="2543323"/>
            <a:ext cx="3492549" cy="2819102"/>
          </a:xfrm>
          <a:prstGeom prst="rect">
            <a:avLst/>
          </a:prstGeom>
          <a:noFill/>
          <a:ln>
            <a:noFill/>
          </a:ln>
        </p:spPr>
      </p:pic>
      <p:pic>
        <p:nvPicPr>
          <p:cNvPr descr="image.png" id="183" name="Google Shape;183;p8"/>
          <p:cNvPicPr preferRelativeResize="0"/>
          <p:nvPr/>
        </p:nvPicPr>
        <p:blipFill rotWithShape="1">
          <a:blip r:embed="rId6">
            <a:alphaModFix/>
          </a:blip>
          <a:srcRect b="0" l="0" r="0" t="0"/>
          <a:stretch/>
        </p:blipFill>
        <p:spPr>
          <a:xfrm>
            <a:off x="8128099" y="2543323"/>
            <a:ext cx="3492549" cy="2819102"/>
          </a:xfrm>
          <a:prstGeom prst="rect">
            <a:avLst/>
          </a:prstGeom>
          <a:noFill/>
          <a:ln>
            <a:noFill/>
          </a:ln>
        </p:spPr>
      </p:pic>
      <p:pic>
        <p:nvPicPr>
          <p:cNvPr descr="image.png" id="184" name="Google Shape;184;p8"/>
          <p:cNvPicPr preferRelativeResize="0"/>
          <p:nvPr/>
        </p:nvPicPr>
        <p:blipFill rotWithShape="1">
          <a:blip r:embed="rId7">
            <a:alphaModFix/>
          </a:blip>
          <a:srcRect b="0" l="0" r="0" t="0"/>
          <a:stretch/>
        </p:blipFill>
        <p:spPr>
          <a:xfrm>
            <a:off x="819150" y="2838598"/>
            <a:ext cx="2997249" cy="419100"/>
          </a:xfrm>
          <a:prstGeom prst="rect">
            <a:avLst/>
          </a:prstGeom>
          <a:noFill/>
          <a:ln>
            <a:noFill/>
          </a:ln>
        </p:spPr>
      </p:pic>
      <p:sp>
        <p:nvSpPr>
          <p:cNvPr id="185" name="Google Shape;185;p8"/>
          <p:cNvSpPr txBox="1"/>
          <p:nvPr/>
        </p:nvSpPr>
        <p:spPr>
          <a:xfrm>
            <a:off x="819150" y="3448198"/>
            <a:ext cx="3147112" cy="2571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F8FAFC"/>
                </a:solidFill>
                <a:latin typeface="Urbanist SemiBold"/>
                <a:ea typeface="Urbanist SemiBold"/>
                <a:cs typeface="Urbanist SemiBold"/>
                <a:sym typeface="Urbanist SemiBold"/>
              </a:rPr>
              <a:t>Scrum Ágil</a:t>
            </a:r>
            <a:endParaRPr b="0" i="0" sz="1400" u="none" cap="none" strike="noStrike">
              <a:solidFill>
                <a:srgbClr val="000000"/>
              </a:solidFill>
              <a:latin typeface="Arial"/>
              <a:ea typeface="Arial"/>
              <a:cs typeface="Arial"/>
              <a:sym typeface="Arial"/>
            </a:endParaRPr>
          </a:p>
        </p:txBody>
      </p:sp>
      <p:sp>
        <p:nvSpPr>
          <p:cNvPr id="186" name="Google Shape;186;p8"/>
          <p:cNvSpPr txBox="1"/>
          <p:nvPr/>
        </p:nvSpPr>
        <p:spPr>
          <a:xfrm>
            <a:off x="819150" y="3848248"/>
            <a:ext cx="2997249"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200"/>
              <a:buFont typeface="Arial"/>
              <a:buNone/>
            </a:pPr>
            <a:r>
              <a:rPr b="0" i="0" lang="en-US" sz="1200" u="none" cap="none" strike="noStrike">
                <a:solidFill>
                  <a:srgbClr val="94A3B8"/>
                </a:solidFill>
                <a:latin typeface="Lato"/>
                <a:ea typeface="Lato"/>
                <a:cs typeface="Lato"/>
                <a:sym typeface="Lato"/>
              </a:rPr>
              <a:t>Sprints quincenales alineados estrictamente con las 3 fases del Portafolio de Título. Entregables continuos y revisiones de avance periódicas.</a:t>
            </a:r>
            <a:endParaRPr b="0" i="0" sz="1400" u="none" cap="none" strike="noStrike">
              <a:solidFill>
                <a:srgbClr val="000000"/>
              </a:solidFill>
              <a:latin typeface="Arial"/>
              <a:ea typeface="Arial"/>
              <a:cs typeface="Arial"/>
              <a:sym typeface="Arial"/>
            </a:endParaRPr>
          </a:p>
        </p:txBody>
      </p:sp>
      <p:pic>
        <p:nvPicPr>
          <p:cNvPr descr="image.png" id="187" name="Google Shape;187;p8"/>
          <p:cNvPicPr preferRelativeResize="0"/>
          <p:nvPr/>
        </p:nvPicPr>
        <p:blipFill rotWithShape="1">
          <a:blip r:embed="rId7">
            <a:alphaModFix/>
          </a:blip>
          <a:srcRect b="0" l="0" r="0" t="0"/>
          <a:stretch/>
        </p:blipFill>
        <p:spPr>
          <a:xfrm>
            <a:off x="4597449" y="2838598"/>
            <a:ext cx="2997249" cy="419100"/>
          </a:xfrm>
          <a:prstGeom prst="rect">
            <a:avLst/>
          </a:prstGeom>
          <a:noFill/>
          <a:ln>
            <a:noFill/>
          </a:ln>
        </p:spPr>
      </p:pic>
      <p:sp>
        <p:nvSpPr>
          <p:cNvPr id="188" name="Google Shape;188;p8"/>
          <p:cNvSpPr txBox="1"/>
          <p:nvPr/>
        </p:nvSpPr>
        <p:spPr>
          <a:xfrm>
            <a:off x="4597449" y="3448198"/>
            <a:ext cx="3147112" cy="2571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F8FAFC"/>
                </a:solidFill>
                <a:latin typeface="Urbanist SemiBold"/>
                <a:ea typeface="Urbanist SemiBold"/>
                <a:cs typeface="Urbanist SemiBold"/>
                <a:sym typeface="Urbanist SemiBold"/>
              </a:rPr>
              <a:t>Roles de Desarrollo</a:t>
            </a:r>
            <a:endParaRPr b="0" i="0" sz="1400" u="none" cap="none" strike="noStrike">
              <a:solidFill>
                <a:srgbClr val="000000"/>
              </a:solidFill>
              <a:latin typeface="Arial"/>
              <a:ea typeface="Arial"/>
              <a:cs typeface="Arial"/>
              <a:sym typeface="Arial"/>
            </a:endParaRPr>
          </a:p>
        </p:txBody>
      </p:sp>
      <p:sp>
        <p:nvSpPr>
          <p:cNvPr id="189" name="Google Shape;189;p8"/>
          <p:cNvSpPr txBox="1"/>
          <p:nvPr/>
        </p:nvSpPr>
        <p:spPr>
          <a:xfrm>
            <a:off x="4597449" y="3848248"/>
            <a:ext cx="2997249" cy="1218902"/>
          </a:xfrm>
          <a:prstGeom prst="rect">
            <a:avLst/>
          </a:prstGeom>
          <a:noFill/>
          <a:ln>
            <a:noFill/>
          </a:ln>
        </p:spPr>
        <p:txBody>
          <a:bodyPr anchorCtr="0" anchor="t" bIns="0" lIns="0" spcFirstLastPara="1" rIns="0" wrap="square" tIns="0">
            <a:spAutoFit/>
          </a:bodyPr>
          <a:lstStyle/>
          <a:p>
            <a:pPr indent="0" lvl="0" marL="0" marR="0" rtl="0" algn="l">
              <a:lnSpc>
                <a:spcPct val="106666"/>
              </a:lnSpc>
              <a:spcBef>
                <a:spcPts val="0"/>
              </a:spcBef>
              <a:spcAft>
                <a:spcPts val="0"/>
              </a:spcAft>
              <a:buClr>
                <a:srgbClr val="000000"/>
              </a:buClr>
              <a:buSzPts val="1200"/>
              <a:buFont typeface="Arial"/>
              <a:buNone/>
            </a:pPr>
            <a:r>
              <a:rPr b="1" i="0" lang="en-US" sz="1200" u="none" cap="none" strike="noStrike">
                <a:solidFill>
                  <a:srgbClr val="94A3B8"/>
                </a:solidFill>
                <a:latin typeface="Lato"/>
                <a:ea typeface="Lato"/>
                <a:cs typeface="Lato"/>
                <a:sym typeface="Lato"/>
              </a:rPr>
              <a:t>Isaac:</a:t>
            </a:r>
            <a:r>
              <a:rPr b="0" i="0" lang="en-US" sz="1200" u="none" cap="none" strike="noStrike">
                <a:solidFill>
                  <a:srgbClr val="94A3B8"/>
                </a:solidFill>
                <a:latin typeface="Lato"/>
                <a:ea typeface="Lato"/>
                <a:cs typeface="Lato"/>
                <a:sym typeface="Lato"/>
              </a:rPr>
              <a:t> Backend, Base de datos y técnicas de Machine Learning.</a:t>
            </a:r>
            <a:br>
              <a:rPr b="0" i="0" lang="en-US" sz="1800" u="none" cap="none" strike="noStrike">
                <a:solidFill>
                  <a:schemeClr val="dk1"/>
                </a:solidFill>
                <a:latin typeface="Calibri"/>
                <a:ea typeface="Calibri"/>
                <a:cs typeface="Calibri"/>
                <a:sym typeface="Calibri"/>
              </a:rPr>
            </a:br>
            <a:br>
              <a:rPr b="0" i="0" lang="en-US" sz="1800" u="none" cap="none" strike="noStrike">
                <a:solidFill>
                  <a:schemeClr val="dk1"/>
                </a:solidFill>
                <a:latin typeface="Calibri"/>
                <a:ea typeface="Calibri"/>
                <a:cs typeface="Calibri"/>
                <a:sym typeface="Calibri"/>
              </a:rPr>
            </a:br>
            <a:r>
              <a:rPr b="1" i="0" lang="en-US" sz="1200" u="none" cap="none" strike="noStrike">
                <a:solidFill>
                  <a:srgbClr val="94A3B8"/>
                </a:solidFill>
                <a:latin typeface="Lato"/>
                <a:ea typeface="Lato"/>
                <a:cs typeface="Lato"/>
                <a:sym typeface="Lato"/>
              </a:rPr>
              <a:t>Sebastián:</a:t>
            </a:r>
            <a:r>
              <a:rPr b="0" i="0" lang="en-US" sz="1200" u="none" cap="none" strike="noStrike">
                <a:solidFill>
                  <a:srgbClr val="94A3B8"/>
                </a:solidFill>
                <a:latin typeface="Lato"/>
                <a:ea typeface="Lato"/>
                <a:cs typeface="Lato"/>
                <a:sym typeface="Lato"/>
              </a:rPr>
              <a:t> Desarrollo Frontend y Experiencia de Usuario (UX/UI).</a:t>
            </a:r>
            <a:endParaRPr b="0" i="0" sz="1400" u="none" cap="none" strike="noStrike">
              <a:solidFill>
                <a:srgbClr val="000000"/>
              </a:solidFill>
              <a:latin typeface="Arial"/>
              <a:ea typeface="Arial"/>
              <a:cs typeface="Arial"/>
              <a:sym typeface="Arial"/>
            </a:endParaRPr>
          </a:p>
        </p:txBody>
      </p:sp>
      <p:pic>
        <p:nvPicPr>
          <p:cNvPr descr="image.png" id="190" name="Google Shape;190;p8"/>
          <p:cNvPicPr preferRelativeResize="0"/>
          <p:nvPr/>
        </p:nvPicPr>
        <p:blipFill rotWithShape="1">
          <a:blip r:embed="rId7">
            <a:alphaModFix/>
          </a:blip>
          <a:srcRect b="0" l="0" r="0" t="0"/>
          <a:stretch/>
        </p:blipFill>
        <p:spPr>
          <a:xfrm>
            <a:off x="8375749" y="2838598"/>
            <a:ext cx="2997249" cy="419100"/>
          </a:xfrm>
          <a:prstGeom prst="rect">
            <a:avLst/>
          </a:prstGeom>
          <a:noFill/>
          <a:ln>
            <a:noFill/>
          </a:ln>
        </p:spPr>
      </p:pic>
      <p:sp>
        <p:nvSpPr>
          <p:cNvPr id="191" name="Google Shape;191;p8"/>
          <p:cNvSpPr txBox="1"/>
          <p:nvPr/>
        </p:nvSpPr>
        <p:spPr>
          <a:xfrm>
            <a:off x="8375749" y="3448198"/>
            <a:ext cx="3147112" cy="2571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F8FAFC"/>
                </a:solidFill>
                <a:latin typeface="Urbanist SemiBold"/>
                <a:ea typeface="Urbanist SemiBold"/>
                <a:cs typeface="Urbanist SemiBold"/>
                <a:sym typeface="Urbanist SemiBold"/>
              </a:rPr>
              <a:t>Gestión y QA</a:t>
            </a:r>
            <a:endParaRPr b="0" i="0" sz="1400" u="none" cap="none" strike="noStrike">
              <a:solidFill>
                <a:srgbClr val="000000"/>
              </a:solidFill>
              <a:latin typeface="Arial"/>
              <a:ea typeface="Arial"/>
              <a:cs typeface="Arial"/>
              <a:sym typeface="Arial"/>
            </a:endParaRPr>
          </a:p>
        </p:txBody>
      </p:sp>
      <p:sp>
        <p:nvSpPr>
          <p:cNvPr id="192" name="Google Shape;192;p8"/>
          <p:cNvSpPr txBox="1"/>
          <p:nvPr/>
        </p:nvSpPr>
        <p:spPr>
          <a:xfrm>
            <a:off x="8375749" y="3848248"/>
            <a:ext cx="2997249"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200"/>
              <a:buFont typeface="Arial"/>
              <a:buNone/>
            </a:pPr>
            <a:r>
              <a:rPr b="1" i="0" lang="en-US" sz="1200" u="none" cap="none" strike="noStrike">
                <a:solidFill>
                  <a:srgbClr val="94A3B8"/>
                </a:solidFill>
                <a:latin typeface="Lato"/>
                <a:ea typeface="Lato"/>
                <a:cs typeface="Lato"/>
                <a:sym typeface="Lato"/>
              </a:rPr>
              <a:t>Dixon:</a:t>
            </a:r>
            <a:r>
              <a:rPr b="0" i="0" lang="en-US" sz="1200" u="none" cap="none" strike="noStrike">
                <a:solidFill>
                  <a:srgbClr val="94A3B8"/>
                </a:solidFill>
                <a:latin typeface="Lato"/>
                <a:ea typeface="Lato"/>
                <a:cs typeface="Lato"/>
                <a:sym typeface="Lato"/>
              </a:rPr>
              <a:t> Documentación técnica, ejecución de pruebas de integración, coordinación y seguimiento estricto del plan de trabajo.</a:t>
            </a:r>
            <a:endParaRPr b="0" i="0" sz="1400" u="none" cap="none" strike="noStrike">
              <a:solidFill>
                <a:srgbClr val="000000"/>
              </a:solidFill>
              <a:latin typeface="Arial"/>
              <a:ea typeface="Arial"/>
              <a:cs typeface="Arial"/>
              <a:sym typeface="Arial"/>
            </a:endParaRPr>
          </a:p>
        </p:txBody>
      </p:sp>
      <p:pic>
        <p:nvPicPr>
          <p:cNvPr descr="image.png" id="193" name="Google Shape;193;p8"/>
          <p:cNvPicPr preferRelativeResize="0"/>
          <p:nvPr/>
        </p:nvPicPr>
        <p:blipFill rotWithShape="1">
          <a:blip r:embed="rId8">
            <a:alphaModFix/>
          </a:blip>
          <a:srcRect b="0" l="0" r="0" t="0"/>
          <a:stretch/>
        </p:blipFill>
        <p:spPr>
          <a:xfrm>
            <a:off x="819150" y="2886223"/>
            <a:ext cx="342900" cy="342900"/>
          </a:xfrm>
          <a:prstGeom prst="rect">
            <a:avLst/>
          </a:prstGeom>
          <a:noFill/>
          <a:ln>
            <a:noFill/>
          </a:ln>
        </p:spPr>
      </p:pic>
      <p:pic>
        <p:nvPicPr>
          <p:cNvPr descr="image.png" id="194" name="Google Shape;194;p8"/>
          <p:cNvPicPr preferRelativeResize="0"/>
          <p:nvPr/>
        </p:nvPicPr>
        <p:blipFill rotWithShape="1">
          <a:blip r:embed="rId9">
            <a:alphaModFix/>
          </a:blip>
          <a:srcRect b="0" l="0" r="0" t="0"/>
          <a:stretch/>
        </p:blipFill>
        <p:spPr>
          <a:xfrm>
            <a:off x="4597449" y="2886223"/>
            <a:ext cx="428625" cy="342900"/>
          </a:xfrm>
          <a:prstGeom prst="rect">
            <a:avLst/>
          </a:prstGeom>
          <a:noFill/>
          <a:ln>
            <a:noFill/>
          </a:ln>
        </p:spPr>
      </p:pic>
      <p:pic>
        <p:nvPicPr>
          <p:cNvPr descr="image.png" id="195" name="Google Shape;195;p8"/>
          <p:cNvPicPr preferRelativeResize="0"/>
          <p:nvPr/>
        </p:nvPicPr>
        <p:blipFill rotWithShape="1">
          <a:blip r:embed="rId10">
            <a:alphaModFix/>
          </a:blip>
          <a:srcRect b="0" l="0" r="0" t="0"/>
          <a:stretch/>
        </p:blipFill>
        <p:spPr>
          <a:xfrm>
            <a:off x="8375749" y="2886223"/>
            <a:ext cx="257175" cy="342900"/>
          </a:xfrm>
          <a:prstGeom prst="rect">
            <a:avLst/>
          </a:prstGeom>
          <a:noFill/>
          <a:ln>
            <a:noFill/>
          </a:ln>
        </p:spPr>
      </p:pic>
      <p:sp>
        <p:nvSpPr>
          <p:cNvPr id="196" name="Google Shape;196;p8"/>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8FAFC"/>
                </a:solidFill>
                <a:latin typeface="Urbanist"/>
                <a:ea typeface="Urbanist"/>
                <a:cs typeface="Urbanist"/>
                <a:sym typeface="Urbanist"/>
              </a:rPr>
              <a:t>Metodología de </a:t>
            </a:r>
            <a:r>
              <a:rPr b="1" i="0" lang="en-US" sz="3300" u="none" cap="none" strike="noStrike">
                <a:solidFill>
                  <a:srgbClr val="00F0FF"/>
                </a:solidFill>
                <a:latin typeface="Urbanist"/>
                <a:ea typeface="Urbanist"/>
                <a:cs typeface="Urbanist"/>
                <a:sym typeface="Urbanist"/>
              </a:rPr>
              <a:t>Trabajo</a:t>
            </a:r>
            <a:endParaRPr b="0" i="0" sz="1400" u="none" cap="none" strike="noStrike">
              <a:solidFill>
                <a:srgbClr val="000000"/>
              </a:solidFill>
              <a:latin typeface="Arial"/>
              <a:ea typeface="Arial"/>
              <a:cs typeface="Arial"/>
              <a:sym typeface="Arial"/>
            </a:endParaRPr>
          </a:p>
        </p:txBody>
      </p:sp>
      <p:sp>
        <p:nvSpPr>
          <p:cNvPr id="197" name="Google Shape;197;p8"/>
          <p:cNvSpPr/>
          <p:nvPr/>
        </p:nvSpPr>
        <p:spPr>
          <a:xfrm>
            <a:off x="571500" y="1219200"/>
            <a:ext cx="11049000"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201" name="Shape 201"/>
        <p:cNvGrpSpPr/>
        <p:nvPr/>
      </p:nvGrpSpPr>
      <p:grpSpPr>
        <a:xfrm>
          <a:off x="0" y="0"/>
          <a:ext cx="0" cy="0"/>
          <a:chOff x="0" y="0"/>
          <a:chExt cx="0" cy="0"/>
        </a:xfrm>
      </p:grpSpPr>
      <p:pic>
        <p:nvPicPr>
          <p:cNvPr descr="image.png" id="202" name="Google Shape;202;p9"/>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203" name="Google Shape;203;p9"/>
          <p:cNvGraphicFramePr/>
          <p:nvPr/>
        </p:nvGraphicFramePr>
        <p:xfrm>
          <a:off x="571500" y="2280344"/>
          <a:ext cx="3000000" cy="3000000"/>
        </p:xfrm>
        <a:graphic>
          <a:graphicData uri="http://schemas.openxmlformats.org/drawingml/2006/table">
            <a:tbl>
              <a:tblPr bandRow="1" firstRow="1">
                <a:noFill/>
                <a:tableStyleId>{99903D44-021F-496A-9285-8B9B372FAE12}</a:tableStyleId>
              </a:tblPr>
              <a:tblGrid>
                <a:gridCol w="1119325"/>
                <a:gridCol w="3285525"/>
                <a:gridCol w="6644125"/>
              </a:tblGrid>
              <a:tr h="669000">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F0FF"/>
                          </a:solidFill>
                          <a:latin typeface="Urbanist"/>
                          <a:ea typeface="Urbanist"/>
                          <a:cs typeface="Urbanist"/>
                          <a:sym typeface="Urbanist"/>
                        </a:rPr>
                        <a:t>Tipo</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F0FF"/>
                          </a:solidFill>
                          <a:latin typeface="Urbanist"/>
                          <a:ea typeface="Urbanist"/>
                          <a:cs typeface="Urbanist"/>
                          <a:sym typeface="Urbanist"/>
                        </a:rPr>
                        <a:t>Nombre de la Evidencia</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F0FF"/>
                          </a:solidFill>
                          <a:latin typeface="Urbanist"/>
                          <a:ea typeface="Urbanist"/>
                          <a:cs typeface="Urbanist"/>
                          <a:sym typeface="Urbanist"/>
                        </a:rPr>
                        <a:t>Descripción del Entregable</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r>
              <a:tr h="669000">
                <a:tc>
                  <a:txBody>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latin typeface="Lato"/>
                          <a:ea typeface="Lato"/>
                          <a:cs typeface="Lato"/>
                          <a:sym typeface="Lato"/>
                        </a:rPr>
                        <a:t>Avance</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latin typeface="Lato"/>
                          <a:ea typeface="Lato"/>
                          <a:cs typeface="Lato"/>
                          <a:sym typeface="Lato"/>
                        </a:rPr>
                        <a:t>Definición y Diseño</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latin typeface="Lato"/>
                          <a:ea typeface="Lato"/>
                          <a:cs typeface="Lato"/>
                          <a:sym typeface="Lato"/>
                        </a:rPr>
                        <a:t>Documento con modelo de datos, arquitectura y mockups principales.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69000">
                <a:tc>
                  <a:txBody>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latin typeface="Lato"/>
                          <a:ea typeface="Lato"/>
                          <a:cs typeface="Lato"/>
                          <a:sym typeface="Lato"/>
                        </a:rPr>
                        <a:t>Avance</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latin typeface="Lato"/>
                          <a:ea typeface="Lato"/>
                          <a:cs typeface="Lato"/>
                          <a:sym typeface="Lato"/>
                        </a:rPr>
                        <a:t>Prototipo Funcional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latin typeface="Lato"/>
                          <a:ea typeface="Lato"/>
                          <a:cs typeface="Lato"/>
                          <a:sym typeface="Lato"/>
                        </a:rPr>
                        <a:t>Repositorio con API y frontend conectados (agendamiento y órdenes).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69000">
                <a:tc>
                  <a:txBody>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latin typeface="Lato"/>
                          <a:ea typeface="Lato"/>
                          <a:cs typeface="Lato"/>
                          <a:sym typeface="Lato"/>
                        </a:rPr>
                        <a:t>Final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latin typeface="Lato"/>
                          <a:ea typeface="Lato"/>
                          <a:cs typeface="Lato"/>
                          <a:sym typeface="Lato"/>
                        </a:rPr>
                        <a:t>Plataforma Integrada</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latin typeface="Lato"/>
                          <a:ea typeface="Lato"/>
                          <a:cs typeface="Lato"/>
                          <a:sym typeface="Lato"/>
                        </a:rPr>
                        <a:t>Sistema completo, roles y panel super-admin de gestión de módulos.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69000">
                <a:tc>
                  <a:txBody>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latin typeface="Lato"/>
                          <a:ea typeface="Lato"/>
                          <a:cs typeface="Lato"/>
                          <a:sym typeface="Lato"/>
                        </a:rPr>
                        <a:t>Final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latin typeface="Lato"/>
                          <a:ea typeface="Lato"/>
                          <a:cs typeface="Lato"/>
                          <a:sym typeface="Lato"/>
                        </a:rPr>
                        <a:t>Dashboard Predictivo</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latin typeface="Lato"/>
                          <a:ea typeface="Lato"/>
                          <a:cs typeface="Lato"/>
                          <a:sym typeface="Lato"/>
                        </a:rPr>
                        <a:t>Visualización operativa funcional con proyecciones de inventario y eficiencia.</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04" name="Google Shape;204;p9"/>
          <p:cNvSpPr/>
          <p:nvPr/>
        </p:nvSpPr>
        <p:spPr>
          <a:xfrm>
            <a:off x="571500" y="2966144"/>
            <a:ext cx="1119300" cy="9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9"/>
          <p:cNvSpPr/>
          <p:nvPr/>
        </p:nvSpPr>
        <p:spPr>
          <a:xfrm>
            <a:off x="1690836" y="2966144"/>
            <a:ext cx="3285529"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6" name="Google Shape;206;p9"/>
          <p:cNvSpPr/>
          <p:nvPr/>
        </p:nvSpPr>
        <p:spPr>
          <a:xfrm>
            <a:off x="4976366" y="2966144"/>
            <a:ext cx="664413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9"/>
          <p:cNvSpPr/>
          <p:nvPr/>
        </p:nvSpPr>
        <p:spPr>
          <a:xfrm>
            <a:off x="571500" y="3630959"/>
            <a:ext cx="1119336"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9"/>
          <p:cNvSpPr/>
          <p:nvPr/>
        </p:nvSpPr>
        <p:spPr>
          <a:xfrm>
            <a:off x="1690836" y="3630959"/>
            <a:ext cx="3285529"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p9"/>
          <p:cNvSpPr/>
          <p:nvPr/>
        </p:nvSpPr>
        <p:spPr>
          <a:xfrm>
            <a:off x="4976366" y="3630959"/>
            <a:ext cx="664413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latin typeface="Calibri"/>
              <a:ea typeface="Calibri"/>
              <a:cs typeface="Calibri"/>
              <a:sym typeface="Calibri"/>
            </a:endParaRPr>
          </a:p>
        </p:txBody>
      </p:sp>
      <p:sp>
        <p:nvSpPr>
          <p:cNvPr id="210" name="Google Shape;210;p9"/>
          <p:cNvSpPr/>
          <p:nvPr/>
        </p:nvSpPr>
        <p:spPr>
          <a:xfrm>
            <a:off x="571500" y="4295775"/>
            <a:ext cx="1119336"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9"/>
          <p:cNvSpPr/>
          <p:nvPr/>
        </p:nvSpPr>
        <p:spPr>
          <a:xfrm>
            <a:off x="1690836" y="4295775"/>
            <a:ext cx="3285529"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9"/>
          <p:cNvSpPr/>
          <p:nvPr/>
        </p:nvSpPr>
        <p:spPr>
          <a:xfrm>
            <a:off x="4976366" y="4295775"/>
            <a:ext cx="664413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9"/>
          <p:cNvSpPr/>
          <p:nvPr/>
        </p:nvSpPr>
        <p:spPr>
          <a:xfrm>
            <a:off x="571500" y="4960590"/>
            <a:ext cx="1119336"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9"/>
          <p:cNvSpPr/>
          <p:nvPr/>
        </p:nvSpPr>
        <p:spPr>
          <a:xfrm>
            <a:off x="1690836" y="4960590"/>
            <a:ext cx="3285529"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9"/>
          <p:cNvSpPr/>
          <p:nvPr/>
        </p:nvSpPr>
        <p:spPr>
          <a:xfrm>
            <a:off x="4976366" y="4960590"/>
            <a:ext cx="664413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9"/>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8FAFC"/>
                </a:solidFill>
                <a:latin typeface="Urbanist"/>
                <a:ea typeface="Urbanist"/>
                <a:cs typeface="Urbanist"/>
                <a:sym typeface="Urbanist"/>
              </a:rPr>
              <a:t>Evidencias del </a:t>
            </a:r>
            <a:r>
              <a:rPr b="1" i="0" lang="en-US" sz="3300" u="none" cap="none" strike="noStrike">
                <a:solidFill>
                  <a:srgbClr val="00F0FF"/>
                </a:solidFill>
                <a:latin typeface="Urbanist"/>
                <a:ea typeface="Urbanist"/>
                <a:cs typeface="Urbanist"/>
                <a:sym typeface="Urbanist"/>
              </a:rPr>
              <a:t>Proyecto</a:t>
            </a:r>
            <a:endParaRPr b="0" i="0" sz="1400" u="none" cap="none" strike="noStrike">
              <a:solidFill>
                <a:srgbClr val="000000"/>
              </a:solidFill>
              <a:latin typeface="Arial"/>
              <a:ea typeface="Arial"/>
              <a:cs typeface="Arial"/>
              <a:sym typeface="Arial"/>
            </a:endParaRPr>
          </a:p>
        </p:txBody>
      </p:sp>
      <p:sp>
        <p:nvSpPr>
          <p:cNvPr id="217" name="Google Shape;217;p9"/>
          <p:cNvSpPr/>
          <p:nvPr/>
        </p:nvSpPr>
        <p:spPr>
          <a:xfrm>
            <a:off x="571500" y="1219200"/>
            <a:ext cx="11049000"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221" name="Shape 221"/>
        <p:cNvGrpSpPr/>
        <p:nvPr/>
      </p:nvGrpSpPr>
      <p:grpSpPr>
        <a:xfrm>
          <a:off x="0" y="0"/>
          <a:ext cx="0" cy="0"/>
          <a:chOff x="0" y="0"/>
          <a:chExt cx="0" cy="0"/>
        </a:xfrm>
      </p:grpSpPr>
      <p:pic>
        <p:nvPicPr>
          <p:cNvPr descr="image.png" id="222" name="Google Shape;222;p1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3" name="Google Shape;223;p10"/>
          <p:cNvPicPr preferRelativeResize="0"/>
          <p:nvPr/>
        </p:nvPicPr>
        <p:blipFill rotWithShape="1">
          <a:blip r:embed="rId4">
            <a:alphaModFix/>
          </a:blip>
          <a:srcRect b="0" l="0" r="0" t="0"/>
          <a:stretch/>
        </p:blipFill>
        <p:spPr>
          <a:xfrm>
            <a:off x="571500" y="4419600"/>
            <a:ext cx="11049000" cy="38100"/>
          </a:xfrm>
          <a:prstGeom prst="rect">
            <a:avLst/>
          </a:prstGeom>
          <a:noFill/>
          <a:ln>
            <a:noFill/>
          </a:ln>
        </p:spPr>
      </p:pic>
      <p:sp>
        <p:nvSpPr>
          <p:cNvPr id="224" name="Google Shape;224;p10"/>
          <p:cNvSpPr txBox="1"/>
          <p:nvPr/>
        </p:nvSpPr>
        <p:spPr>
          <a:xfrm>
            <a:off x="571500" y="1800225"/>
            <a:ext cx="11049000" cy="3657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US" sz="1500" u="none" cap="none" strike="noStrike">
                <a:solidFill>
                  <a:srgbClr val="94A3B8"/>
                </a:solidFill>
                <a:latin typeface="Lato"/>
                <a:ea typeface="Lato"/>
                <a:cs typeface="Lato"/>
                <a:sym typeface="Lato"/>
              </a:rPr>
              <a:t>Distribución en las fases de la asignatura Portafolio de Título (1</a:t>
            </a:r>
            <a:r>
              <a:rPr lang="en-US" sz="1500">
                <a:solidFill>
                  <a:srgbClr val="94A3B8"/>
                </a:solidFill>
                <a:latin typeface="Lato"/>
                <a:ea typeface="Lato"/>
                <a:cs typeface="Lato"/>
                <a:sym typeface="Lato"/>
              </a:rPr>
              <a:t>2 Semanas</a:t>
            </a:r>
            <a:r>
              <a:rPr b="0" i="0" lang="en-US" sz="1500" u="none" cap="none" strike="noStrike">
                <a:solidFill>
                  <a:srgbClr val="94A3B8"/>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225" name="Google Shape;225;p10"/>
          <p:cNvSpPr txBox="1"/>
          <p:nvPr/>
        </p:nvSpPr>
        <p:spPr>
          <a:xfrm>
            <a:off x="488632" y="3017787"/>
            <a:ext cx="3480435" cy="30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950"/>
              <a:buFont typeface="Arial"/>
              <a:buNone/>
            </a:pPr>
            <a:r>
              <a:rPr b="0" i="0" lang="en-US" sz="1950" u="none" cap="none" strike="noStrike">
                <a:solidFill>
                  <a:srgbClr val="00F0FF"/>
                </a:solidFill>
                <a:latin typeface="Urbanist SemiBold"/>
                <a:ea typeface="Urbanist SemiBold"/>
                <a:cs typeface="Urbanist SemiBold"/>
                <a:sym typeface="Urbanist SemiBold"/>
              </a:rPr>
              <a:t>Fase 1 (S1 - S4)</a:t>
            </a:r>
            <a:endParaRPr b="0" i="0" sz="1400" u="none" cap="none" strike="noStrike">
              <a:solidFill>
                <a:srgbClr val="000000"/>
              </a:solidFill>
              <a:latin typeface="Arial"/>
              <a:ea typeface="Arial"/>
              <a:cs typeface="Arial"/>
              <a:sym typeface="Arial"/>
            </a:endParaRPr>
          </a:p>
        </p:txBody>
      </p:sp>
      <p:sp>
        <p:nvSpPr>
          <p:cNvPr id="226" name="Google Shape;226;p10"/>
          <p:cNvSpPr txBox="1"/>
          <p:nvPr/>
        </p:nvSpPr>
        <p:spPr>
          <a:xfrm>
            <a:off x="571500" y="3417837"/>
            <a:ext cx="3314700" cy="21327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200"/>
              <a:buFont typeface="Arial"/>
              <a:buNone/>
            </a:pPr>
            <a:r>
              <a:rPr b="1" i="0" lang="en-US" sz="1200" u="none" cap="none" strike="noStrike">
                <a:solidFill>
                  <a:srgbClr val="F8FAFC"/>
                </a:solidFill>
                <a:latin typeface="Lato"/>
                <a:ea typeface="Lato"/>
                <a:cs typeface="Lato"/>
                <a:sym typeface="Lato"/>
              </a:rPr>
              <a:t>Definición y Diseño</a:t>
            </a:r>
            <a:endParaRPr b="0" i="0" sz="1400" u="none" cap="none" strike="noStrike">
              <a:solidFill>
                <a:srgbClr val="000000"/>
              </a:solidFill>
              <a:latin typeface="Arial"/>
              <a:ea typeface="Arial"/>
              <a:cs typeface="Arial"/>
              <a:sym typeface="Arial"/>
            </a:endParaRPr>
          </a:p>
        </p:txBody>
      </p:sp>
      <p:sp>
        <p:nvSpPr>
          <p:cNvPr id="227" name="Google Shape;227;p10"/>
          <p:cNvSpPr txBox="1"/>
          <p:nvPr/>
        </p:nvSpPr>
        <p:spPr>
          <a:xfrm>
            <a:off x="571500" y="3678733"/>
            <a:ext cx="3314700" cy="426541"/>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200"/>
              <a:buFont typeface="Arial"/>
              <a:buNone/>
            </a:pPr>
            <a:r>
              <a:rPr b="0" i="0" lang="en-US" sz="1200" u="none" cap="none" strike="noStrike">
                <a:solidFill>
                  <a:srgbClr val="94A3B8"/>
                </a:solidFill>
                <a:latin typeface="Lato"/>
                <a:ea typeface="Lato"/>
                <a:cs typeface="Lato"/>
                <a:sym typeface="Lato"/>
              </a:rPr>
              <a:t>Levantamiento, modelo multi-tenant y mockups. Etapa base para arquitectura.</a:t>
            </a:r>
            <a:endParaRPr b="0" i="0" sz="1400" u="none" cap="none" strike="noStrike">
              <a:solidFill>
                <a:srgbClr val="000000"/>
              </a:solidFill>
              <a:latin typeface="Arial"/>
              <a:ea typeface="Arial"/>
              <a:cs typeface="Arial"/>
              <a:sym typeface="Arial"/>
            </a:endParaRPr>
          </a:p>
        </p:txBody>
      </p:sp>
      <p:sp>
        <p:nvSpPr>
          <p:cNvPr id="228" name="Google Shape;228;p10"/>
          <p:cNvSpPr txBox="1"/>
          <p:nvPr/>
        </p:nvSpPr>
        <p:spPr>
          <a:xfrm>
            <a:off x="4355782" y="4772025"/>
            <a:ext cx="3480300" cy="29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950"/>
              <a:buFont typeface="Arial"/>
              <a:buNone/>
            </a:pPr>
            <a:r>
              <a:rPr b="0" i="0" lang="en-US" sz="1950" u="none" cap="none" strike="noStrike">
                <a:solidFill>
                  <a:srgbClr val="00F0FF"/>
                </a:solidFill>
                <a:latin typeface="Urbanist SemiBold"/>
                <a:ea typeface="Urbanist SemiBold"/>
                <a:cs typeface="Urbanist SemiBold"/>
                <a:sym typeface="Urbanist SemiBold"/>
              </a:rPr>
              <a:t>Fase 2 (S5 - S</a:t>
            </a:r>
            <a:r>
              <a:rPr lang="en-US" sz="1950">
                <a:solidFill>
                  <a:srgbClr val="00F0FF"/>
                </a:solidFill>
                <a:latin typeface="Urbanist SemiBold"/>
                <a:ea typeface="Urbanist SemiBold"/>
                <a:cs typeface="Urbanist SemiBold"/>
                <a:sym typeface="Urbanist SemiBold"/>
              </a:rPr>
              <a:t>8</a:t>
            </a:r>
            <a:r>
              <a:rPr b="0" i="0" lang="en-US" sz="1950" u="none" cap="none" strike="noStrike">
                <a:solidFill>
                  <a:srgbClr val="00F0FF"/>
                </a:solidFill>
                <a:latin typeface="Urbanist SemiBold"/>
                <a:ea typeface="Urbanist SemiBold"/>
                <a:cs typeface="Urbanist SemiBold"/>
                <a:sym typeface="Urbanist SemiBold"/>
              </a:rPr>
              <a:t>)</a:t>
            </a:r>
            <a:endParaRPr b="0" i="0" sz="1400" u="none" cap="none" strike="noStrike">
              <a:solidFill>
                <a:srgbClr val="000000"/>
              </a:solidFill>
              <a:latin typeface="Arial"/>
              <a:ea typeface="Arial"/>
              <a:cs typeface="Arial"/>
              <a:sym typeface="Arial"/>
            </a:endParaRPr>
          </a:p>
        </p:txBody>
      </p:sp>
      <p:sp>
        <p:nvSpPr>
          <p:cNvPr id="229" name="Google Shape;229;p10"/>
          <p:cNvSpPr txBox="1"/>
          <p:nvPr/>
        </p:nvSpPr>
        <p:spPr>
          <a:xfrm>
            <a:off x="4438650" y="5172075"/>
            <a:ext cx="3314700" cy="21327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200"/>
              <a:buFont typeface="Arial"/>
              <a:buNone/>
            </a:pPr>
            <a:r>
              <a:rPr b="1" i="0" lang="en-US" sz="1200" u="none" cap="none" strike="noStrike">
                <a:solidFill>
                  <a:srgbClr val="F8FAFC"/>
                </a:solidFill>
                <a:latin typeface="Lato"/>
                <a:ea typeface="Lato"/>
                <a:cs typeface="Lato"/>
                <a:sym typeface="Lato"/>
              </a:rPr>
              <a:t>Desarrollo Core</a:t>
            </a:r>
            <a:endParaRPr b="0" i="0" sz="1400" u="none" cap="none" strike="noStrike">
              <a:solidFill>
                <a:srgbClr val="000000"/>
              </a:solidFill>
              <a:latin typeface="Arial"/>
              <a:ea typeface="Arial"/>
              <a:cs typeface="Arial"/>
              <a:sym typeface="Arial"/>
            </a:endParaRPr>
          </a:p>
        </p:txBody>
      </p:sp>
      <p:sp>
        <p:nvSpPr>
          <p:cNvPr id="230" name="Google Shape;230;p10"/>
          <p:cNvSpPr txBox="1"/>
          <p:nvPr/>
        </p:nvSpPr>
        <p:spPr>
          <a:xfrm>
            <a:off x="4438650" y="5432970"/>
            <a:ext cx="3314700" cy="426541"/>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200"/>
              <a:buFont typeface="Arial"/>
              <a:buNone/>
            </a:pPr>
            <a:r>
              <a:rPr b="0" i="0" lang="en-US" sz="1200" u="none" cap="none" strike="noStrike">
                <a:solidFill>
                  <a:srgbClr val="94A3B8"/>
                </a:solidFill>
                <a:latin typeface="Lato"/>
                <a:ea typeface="Lato"/>
                <a:cs typeface="Lato"/>
                <a:sym typeface="Lato"/>
              </a:rPr>
              <a:t>Implementación API REST, MySQL y pantallas React para módulos operativos.</a:t>
            </a:r>
            <a:endParaRPr b="0" i="0" sz="1400" u="none" cap="none" strike="noStrike">
              <a:solidFill>
                <a:srgbClr val="000000"/>
              </a:solidFill>
              <a:latin typeface="Arial"/>
              <a:ea typeface="Arial"/>
              <a:cs typeface="Arial"/>
              <a:sym typeface="Arial"/>
            </a:endParaRPr>
          </a:p>
        </p:txBody>
      </p:sp>
      <p:sp>
        <p:nvSpPr>
          <p:cNvPr id="231" name="Google Shape;231;p10"/>
          <p:cNvSpPr txBox="1"/>
          <p:nvPr/>
        </p:nvSpPr>
        <p:spPr>
          <a:xfrm>
            <a:off x="8222932" y="3017787"/>
            <a:ext cx="3480300" cy="29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950"/>
              <a:buFont typeface="Arial"/>
              <a:buNone/>
            </a:pPr>
            <a:r>
              <a:rPr b="0" i="0" lang="en-US" sz="1950" u="none" cap="none" strike="noStrike">
                <a:solidFill>
                  <a:srgbClr val="00F0FF"/>
                </a:solidFill>
                <a:latin typeface="Urbanist SemiBold"/>
                <a:ea typeface="Urbanist SemiBold"/>
                <a:cs typeface="Urbanist SemiBold"/>
                <a:sym typeface="Urbanist SemiBold"/>
              </a:rPr>
              <a:t>Fase 3 (S</a:t>
            </a:r>
            <a:r>
              <a:rPr lang="en-US" sz="1950">
                <a:solidFill>
                  <a:srgbClr val="00F0FF"/>
                </a:solidFill>
                <a:latin typeface="Urbanist SemiBold"/>
                <a:ea typeface="Urbanist SemiBold"/>
                <a:cs typeface="Urbanist SemiBold"/>
                <a:sym typeface="Urbanist SemiBold"/>
              </a:rPr>
              <a:t>9</a:t>
            </a:r>
            <a:r>
              <a:rPr b="0" i="0" lang="en-US" sz="1950" u="none" cap="none" strike="noStrike">
                <a:solidFill>
                  <a:srgbClr val="00F0FF"/>
                </a:solidFill>
                <a:latin typeface="Urbanist SemiBold"/>
                <a:ea typeface="Urbanist SemiBold"/>
                <a:cs typeface="Urbanist SemiBold"/>
                <a:sym typeface="Urbanist SemiBold"/>
              </a:rPr>
              <a:t> - S1</a:t>
            </a:r>
            <a:r>
              <a:rPr lang="en-US" sz="1950">
                <a:solidFill>
                  <a:srgbClr val="00F0FF"/>
                </a:solidFill>
                <a:latin typeface="Urbanist SemiBold"/>
                <a:ea typeface="Urbanist SemiBold"/>
                <a:cs typeface="Urbanist SemiBold"/>
                <a:sym typeface="Urbanist SemiBold"/>
              </a:rPr>
              <a:t>2)</a:t>
            </a:r>
            <a:endParaRPr b="0" i="0" sz="1400" u="none" cap="none" strike="noStrike">
              <a:solidFill>
                <a:srgbClr val="000000"/>
              </a:solidFill>
              <a:latin typeface="Arial"/>
              <a:ea typeface="Arial"/>
              <a:cs typeface="Arial"/>
              <a:sym typeface="Arial"/>
            </a:endParaRPr>
          </a:p>
        </p:txBody>
      </p:sp>
      <p:sp>
        <p:nvSpPr>
          <p:cNvPr id="232" name="Google Shape;232;p10"/>
          <p:cNvSpPr txBox="1"/>
          <p:nvPr/>
        </p:nvSpPr>
        <p:spPr>
          <a:xfrm>
            <a:off x="8305800" y="3417837"/>
            <a:ext cx="3314700" cy="21327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200"/>
              <a:buFont typeface="Arial"/>
              <a:buNone/>
            </a:pPr>
            <a:r>
              <a:rPr b="1" i="0" lang="en-US" sz="1200" u="none" cap="none" strike="noStrike">
                <a:solidFill>
                  <a:srgbClr val="F8FAFC"/>
                </a:solidFill>
                <a:latin typeface="Lato"/>
                <a:ea typeface="Lato"/>
                <a:cs typeface="Lato"/>
                <a:sym typeface="Lato"/>
              </a:rPr>
              <a:t>Analítica y Cierre</a:t>
            </a:r>
            <a:endParaRPr b="0" i="0" sz="1400" u="none" cap="none" strike="noStrike">
              <a:solidFill>
                <a:srgbClr val="000000"/>
              </a:solidFill>
              <a:latin typeface="Arial"/>
              <a:ea typeface="Arial"/>
              <a:cs typeface="Arial"/>
              <a:sym typeface="Arial"/>
            </a:endParaRPr>
          </a:p>
        </p:txBody>
      </p:sp>
      <p:sp>
        <p:nvSpPr>
          <p:cNvPr id="233" name="Google Shape;233;p10"/>
          <p:cNvSpPr txBox="1"/>
          <p:nvPr/>
        </p:nvSpPr>
        <p:spPr>
          <a:xfrm>
            <a:off x="8305800" y="3678733"/>
            <a:ext cx="3314700" cy="426541"/>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200"/>
              <a:buFont typeface="Arial"/>
              <a:buNone/>
            </a:pPr>
            <a:r>
              <a:rPr b="0" i="0" lang="en-US" sz="1200" u="none" cap="none" strike="noStrike">
                <a:solidFill>
                  <a:srgbClr val="94A3B8"/>
                </a:solidFill>
                <a:latin typeface="Lato"/>
                <a:ea typeface="Lato"/>
                <a:cs typeface="Lato"/>
                <a:sym typeface="Lato"/>
              </a:rPr>
              <a:t>Modelo predictivo, pruebas integradas y entrega final de la plataforma.</a:t>
            </a:r>
            <a:endParaRPr b="0" i="0" sz="1400" u="none" cap="none" strike="noStrike">
              <a:solidFill>
                <a:srgbClr val="000000"/>
              </a:solidFill>
              <a:latin typeface="Arial"/>
              <a:ea typeface="Arial"/>
              <a:cs typeface="Arial"/>
              <a:sym typeface="Arial"/>
            </a:endParaRPr>
          </a:p>
        </p:txBody>
      </p:sp>
      <p:sp>
        <p:nvSpPr>
          <p:cNvPr id="234" name="Google Shape;234;p10"/>
          <p:cNvSpPr txBox="1"/>
          <p:nvPr/>
        </p:nvSpPr>
        <p:spPr>
          <a:xfrm>
            <a:off x="571500" y="571500"/>
            <a:ext cx="11601450"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8FAFC"/>
                </a:solidFill>
                <a:latin typeface="Urbanist"/>
                <a:ea typeface="Urbanist"/>
                <a:cs typeface="Urbanist"/>
                <a:sym typeface="Urbanist"/>
              </a:rPr>
              <a:t>Plan de </a:t>
            </a:r>
            <a:r>
              <a:rPr b="1" i="0" lang="en-US" sz="3300" u="none" cap="none" strike="noStrike">
                <a:solidFill>
                  <a:srgbClr val="00F0FF"/>
                </a:solidFill>
                <a:latin typeface="Urbanist"/>
                <a:ea typeface="Urbanist"/>
                <a:cs typeface="Urbanist"/>
                <a:sym typeface="Urbanist"/>
              </a:rPr>
              <a:t>Trabajo</a:t>
            </a:r>
            <a:endParaRPr b="0" i="0" sz="1400" u="none" cap="none" strike="noStrike">
              <a:solidFill>
                <a:srgbClr val="000000"/>
              </a:solidFill>
              <a:latin typeface="Arial"/>
              <a:ea typeface="Arial"/>
              <a:cs typeface="Arial"/>
              <a:sym typeface="Arial"/>
            </a:endParaRPr>
          </a:p>
        </p:txBody>
      </p:sp>
      <p:sp>
        <p:nvSpPr>
          <p:cNvPr id="235" name="Google Shape;235;p10"/>
          <p:cNvSpPr/>
          <p:nvPr/>
        </p:nvSpPr>
        <p:spPr>
          <a:xfrm>
            <a:off x="571500" y="1219200"/>
            <a:ext cx="11049000"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10"/>
          <p:cNvSpPr/>
          <p:nvPr/>
        </p:nvSpPr>
        <p:spPr>
          <a:xfrm>
            <a:off x="2114550" y="4324350"/>
            <a:ext cx="228600" cy="228600"/>
          </a:xfrm>
          <a:prstGeom prst="roundRect">
            <a:avLst>
              <a:gd fmla="val 50000" name="adj"/>
            </a:avLst>
          </a:prstGeom>
          <a:solidFill>
            <a:srgbClr val="0B1120"/>
          </a:solidFill>
          <a:ln cap="flat" cmpd="sng" w="38100">
            <a:solidFill>
              <a:srgbClr val="00F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10"/>
          <p:cNvSpPr/>
          <p:nvPr/>
        </p:nvSpPr>
        <p:spPr>
          <a:xfrm>
            <a:off x="5981700" y="4324350"/>
            <a:ext cx="228600" cy="228600"/>
          </a:xfrm>
          <a:prstGeom prst="roundRect">
            <a:avLst>
              <a:gd fmla="val 50000" name="adj"/>
            </a:avLst>
          </a:prstGeom>
          <a:solidFill>
            <a:srgbClr val="0B1120"/>
          </a:solidFill>
          <a:ln cap="flat" cmpd="sng" w="38100">
            <a:solidFill>
              <a:srgbClr val="00F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10"/>
          <p:cNvSpPr/>
          <p:nvPr/>
        </p:nvSpPr>
        <p:spPr>
          <a:xfrm>
            <a:off x="9848850" y="4324350"/>
            <a:ext cx="228600" cy="228600"/>
          </a:xfrm>
          <a:prstGeom prst="roundRect">
            <a:avLst>
              <a:gd fmla="val 50000" name="adj"/>
            </a:avLst>
          </a:prstGeom>
          <a:solidFill>
            <a:srgbClr val="0B1120"/>
          </a:solidFill>
          <a:ln cap="flat" cmpd="sng" w="38100">
            <a:solidFill>
              <a:srgbClr val="00F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242" name="Shape 242"/>
        <p:cNvGrpSpPr/>
        <p:nvPr/>
      </p:nvGrpSpPr>
      <p:grpSpPr>
        <a:xfrm>
          <a:off x="0" y="0"/>
          <a:ext cx="0" cy="0"/>
          <a:chOff x="0" y="0"/>
          <a:chExt cx="0" cy="0"/>
        </a:xfrm>
      </p:grpSpPr>
      <p:pic>
        <p:nvPicPr>
          <p:cNvPr descr="image.png" id="243" name="Google Shape;243;p1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4" name="Google Shape;244;p11"/>
          <p:cNvPicPr preferRelativeResize="0"/>
          <p:nvPr/>
        </p:nvPicPr>
        <p:blipFill rotWithShape="1">
          <a:blip r:embed="rId4">
            <a:alphaModFix/>
          </a:blip>
          <a:srcRect b="0" l="0" r="0" t="0"/>
          <a:stretch/>
        </p:blipFill>
        <p:spPr>
          <a:xfrm>
            <a:off x="5186362" y="2807940"/>
            <a:ext cx="1819275" cy="600075"/>
          </a:xfrm>
          <a:prstGeom prst="rect">
            <a:avLst/>
          </a:prstGeom>
          <a:noFill/>
          <a:ln>
            <a:noFill/>
          </a:ln>
        </p:spPr>
      </p:pic>
      <p:sp>
        <p:nvSpPr>
          <p:cNvPr id="245" name="Google Shape;245;p11"/>
          <p:cNvSpPr txBox="1"/>
          <p:nvPr/>
        </p:nvSpPr>
        <p:spPr>
          <a:xfrm>
            <a:off x="295275" y="571500"/>
            <a:ext cx="11601450"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500"/>
              <a:buFont typeface="Arial"/>
              <a:buNone/>
            </a:pPr>
            <a:r>
              <a:rPr b="1" i="0" lang="en-US" sz="7500" u="none" cap="none" strike="noStrike">
                <a:solidFill>
                  <a:srgbClr val="F8FAFC"/>
                </a:solidFill>
                <a:latin typeface="Urbanist"/>
                <a:ea typeface="Urbanist"/>
                <a:cs typeface="Urbanist"/>
                <a:sym typeface="Urbanist"/>
              </a:rPr>
              <a:t>¿Preguntas?</a:t>
            </a:r>
            <a:endParaRPr b="0" i="0" sz="1400" u="none" cap="none" strike="noStrike">
              <a:solidFill>
                <a:srgbClr val="000000"/>
              </a:solidFill>
              <a:latin typeface="Arial"/>
              <a:ea typeface="Arial"/>
              <a:cs typeface="Arial"/>
              <a:sym typeface="Arial"/>
            </a:endParaRPr>
          </a:p>
        </p:txBody>
      </p:sp>
      <p:sp>
        <p:nvSpPr>
          <p:cNvPr id="246" name="Google Shape;246;p11"/>
          <p:cNvSpPr txBox="1"/>
          <p:nvPr/>
        </p:nvSpPr>
        <p:spPr>
          <a:xfrm>
            <a:off x="571500" y="1905000"/>
            <a:ext cx="11049000"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Clr>
                <a:srgbClr val="000000"/>
              </a:buClr>
              <a:buSzPts val="2100"/>
              <a:buFont typeface="Arial"/>
              <a:buNone/>
            </a:pPr>
            <a:r>
              <a:rPr b="0" i="0" lang="en-US" sz="2100" u="none" cap="none" strike="noStrike">
                <a:solidFill>
                  <a:srgbClr val="00F0FF"/>
                </a:solidFill>
                <a:latin typeface="Lato"/>
                <a:ea typeface="Lato"/>
                <a:cs typeface="Lato"/>
                <a:sym typeface="Lato"/>
              </a:rPr>
              <a:t>Muchas gracias por su atención.</a:t>
            </a:r>
            <a:endParaRPr b="0" i="0" sz="1400" u="none" cap="none" strike="noStrike">
              <a:solidFill>
                <a:srgbClr val="000000"/>
              </a:solidFill>
              <a:latin typeface="Arial"/>
              <a:ea typeface="Arial"/>
              <a:cs typeface="Arial"/>
              <a:sym typeface="Arial"/>
            </a:endParaRPr>
          </a:p>
        </p:txBody>
      </p:sp>
      <p:sp>
        <p:nvSpPr>
          <p:cNvPr id="247" name="Google Shape;247;p11"/>
          <p:cNvSpPr txBox="1"/>
          <p:nvPr/>
        </p:nvSpPr>
        <p:spPr>
          <a:xfrm>
            <a:off x="5186362" y="3103215"/>
            <a:ext cx="1819275"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US" sz="1500" u="none" cap="none" strike="noStrike">
                <a:solidFill>
                  <a:srgbClr val="94A3B8"/>
                </a:solidFill>
                <a:latin typeface="Lato"/>
                <a:ea typeface="Lato"/>
                <a:cs typeface="Lato"/>
                <a:sym typeface="Lato"/>
              </a:rPr>
              <a:t>Proyecto APT: </a:t>
            </a:r>
            <a:r>
              <a:rPr b="1" i="0" lang="en-US" sz="1500" u="none" cap="none" strike="noStrike">
                <a:solidFill>
                  <a:srgbClr val="94A3B8"/>
                </a:solidFill>
                <a:latin typeface="Lato"/>
                <a:ea typeface="Lato"/>
                <a:cs typeface="Lato"/>
                <a:sym typeface="Lato"/>
              </a:rPr>
              <a:t>SIGMA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